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1600200"/>
            <a:ext cx="1097280" cy="0"/>
          </a:xfrm>
          <a:prstGeom prst="line">
            <a:avLst/>
          </a:prstGeom>
          <a:ln w="31750">
            <a:solidFill>
              <a:srgbClr val="0B1220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82296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B1220"/>
                </a:solidFill>
                <a:latin typeface="Arial"/>
              </a:rPr>
              <a:t>GlucoTwin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0B1220"/>
                </a:solidFill>
                <a:latin typeface="Arial"/>
              </a:rPr>
              <a:t>Personalized glucose forecasting between clinic visits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220"/>
                </a:solidFill>
                <a:latin typeface="Arial"/>
              </a:rPr>
              <a:t>Team Kryptonite, VESIT</a:t>
            </a:r>
          </a:p>
          <a:p>
            <a:r>
              <a:rPr sz="1800">
                <a:solidFill>
                  <a:srgbClr val="0B1220"/>
                </a:solidFill>
                <a:latin typeface="Arial"/>
              </a:rPr>
              <a:t>Avinash Gehi (team leader) · Hardik Hinduja</a:t>
            </a:r>
          </a:p>
          <a:p>
            <a:r>
              <a:rPr sz="1800">
                <a:solidFill>
                  <a:srgbClr val="0B1220"/>
                </a:solidFill>
                <a:latin typeface="Arial"/>
              </a:rPr>
              <a:t>Vivekanand Education Society's Institute of Technology (VESIT), Mumbai</a:t>
            </a:r>
          </a:p>
          <a:p>
            <a:r>
              <a:rPr sz="1800">
                <a:solidFill>
                  <a:srgbClr val="0B1220"/>
                </a:solidFill>
                <a:latin typeface="Arial"/>
              </a:rPr>
              <a:t>Digital Twin Challenge 2026 · Happiest Health</a:t>
            </a:r>
          </a:p>
          <a:p>
            <a:r>
              <a:rPr sz="1800">
                <a:solidFill>
                  <a:srgbClr val="0B1220"/>
                </a:solidFill>
                <a:latin typeface="Arial"/>
              </a:rPr>
              <a:t>Student research prototype — not a medical device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The problem: what happens between appointments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HbA1c summarises ~3 months of glucose; it cannot show short high-glucose excursions (NIDDK).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WHO identifies continuity of care and diabetes monitoring as ongoing challenges in India.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Continuous glucose monitors produce ~288 readings a day — too many to review by hand.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Question for the clinician: “Which monitored patient’s glucose pattern merits review, and what observations support that?”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Our target: forecast glucose 30 and 60 minutes ahead and warn of a NEW sustained episode &gt; 180 mg/dL (≥ 15 min), for Type 2 diabetes.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Use case and boundaries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Hypothetical example (an illustration, not a deployment): a diabetes educator in Mumbai follows adults with Type 2 diabetes who wear CGMs between quarterly visits, and opens one person’s replay to see forecasts, warnings and the data behind them.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User: a clinician reviewing a small monitored cohort; secondary user: a reviewer inspecting evidence.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Workflow (proposed): baseline labs at a visit → CGM + wearable measurements → twin forecasts → a review queue lists replays with unreviewed warnings first (an order of work, not triage) → each person reviewed in their own workspace.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Shows: observed vs predicted glucose, uncertainty, data freshness, factual reasons, research warnings.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Never: insulin or medication advice, triage, live device claims, LLM-generated predictions.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Potential fit with diagnostics + outpatient services is a proposal — no partnership or pilot is claimed.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What makes it a twin (operational definition)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B1220"/>
                </a:solidFill>
                <a:latin typeface="Arial"/>
              </a:rPr>
              <a:t>•  Versioned patient state: baseline profile, episode state, adaptation state, issued forecasts.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1220"/>
                </a:solidFill>
                <a:latin typeface="Arial"/>
              </a:rPr>
              <a:t>•  Incoming observations released by a replay clock (only what was available at that time).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1220"/>
                </a:solidFill>
                <a:latin typeface="Arial"/>
              </a:rPr>
              <a:t>•  Population forecaster + patient-specific correction learned from that person’s matured forecast errors.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1220"/>
                </a:solidFill>
                <a:latin typeface="Arial"/>
              </a:rPr>
              <a:t>•  Measured updates over time — a statistical research twin, not a physiological simulator.</a:t>
            </a:r>
          </a:p>
        </p:txBody>
      </p:sp>
      <p:pic>
        <p:nvPicPr>
          <p:cNvPr id="6" name="Picture 5" descr="fig_twin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26" y="3977639"/>
            <a:ext cx="10597242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Data and provenance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CGMacros 1.0.0 (PhysioNet, CC BY-NC-SA 4.0): 45 adults, ~10 days, Dexcom G6 Pro + Libre Pro (blinded), Fitbit, meals, screening labs.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Primary cohort: 14 participants in the dataset’s Type 2 group (HbA1c &gt; 6.4 %); 31 others replayable but excluded.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Finding: the published 1-minute CGM columns are linearly interpolated. We recover native 5-minute Dexcom readings (integer knots) and never count interpolated rows.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Undocumented columns reported, not interpreted; documented error codes excluded; dates shifted; timezone unknown → synthetic clock, no time-of-day features.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Synthetic fictional participants exercise edge cases (gaps, late meal logs, short history) with no download.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Information availability and leakage controls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B1220"/>
                </a:solidFill>
                <a:latin typeface="Arial"/>
              </a:rPr>
              <a:t>•  Every record carries observed_at and available_at; a forecast at t uses only records with both ≤ 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1220"/>
                </a:solidFill>
                <a:latin typeface="Arial"/>
              </a:rPr>
              <a:t>•  Meals excluded from the primary model (logging time unknown); tested separately as an optimistic sensitivity.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1220"/>
                </a:solidFill>
                <a:latin typeface="Arial"/>
              </a:rPr>
              <a:t>•  Protocol frozen before fitting; model, adaptation, intervals and alert threshold chosen on validation. Results shown (gt-primary-2026-10-13-fusion) re-run gt-primary-2026-10-11-v2's protocol with one change, declared after its test segment had been inspected: the serving model must read the baseline profile and the wearable streams.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1220"/>
                </a:solidFill>
                <a:latin typeface="Arial"/>
              </a:rPr>
              <a:t>•  Adaptation uses a residual only after its target reading was available; missing future data is censored, never negative.</a:t>
            </a:r>
          </a:p>
        </p:txBody>
      </p:sp>
      <p:pic>
        <p:nvPicPr>
          <p:cNvPr id="6" name="Picture 5" descr="fig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77639"/>
            <a:ext cx="11064240" cy="20351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System architecture: two data streams, one twin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322576" cy="5121554"/>
          </a:xfrm>
          <a:prstGeom prst="rect">
            <a:avLst/>
          </a:prstGeom>
          <a:noFill/>
          <a:ln w="9525">
            <a:solidFill>
              <a:srgbClr val="C9CE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280160"/>
            <a:ext cx="213969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3F4652"/>
                </a:solidFill>
                <a:latin typeface="Arial"/>
              </a:rPr>
              <a:t>DATA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188720"/>
            <a:ext cx="1737360" cy="5121554"/>
          </a:xfrm>
          <a:prstGeom prst="rect">
            <a:avLst/>
          </a:prstGeom>
          <a:noFill/>
          <a:ln w="9525">
            <a:solidFill>
              <a:srgbClr val="C9CE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280160"/>
            <a:ext cx="1554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3F4652"/>
                </a:solidFill>
                <a:latin typeface="Arial"/>
              </a:rPr>
              <a:t>INGESTION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9744" y="1188720"/>
            <a:ext cx="7159752" cy="1983333"/>
          </a:xfrm>
          <a:prstGeom prst="rect">
            <a:avLst/>
          </a:prstGeom>
          <a:noFill/>
          <a:ln w="9525">
            <a:solidFill>
              <a:srgbClr val="C9CE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19472" y="1280160"/>
            <a:ext cx="697687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3F4652"/>
                </a:solidFill>
                <a:latin typeface="Arial"/>
              </a:rPr>
              <a:t>ONLINE · DIGITAL TWIN (LOCAL REPLAY)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9744" y="4532680"/>
            <a:ext cx="7159752" cy="1777593"/>
          </a:xfrm>
          <a:prstGeom prst="rect">
            <a:avLst/>
          </a:prstGeom>
          <a:noFill/>
          <a:ln w="9525">
            <a:solidFill>
              <a:srgbClr val="C9CE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9472" y="4624120"/>
            <a:ext cx="697687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3F4652"/>
                </a:solidFill>
                <a:latin typeface="Arial"/>
              </a:rPr>
              <a:t>OFFLINE · MODEL BUILD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78608" y="2168956"/>
            <a:ext cx="182880" cy="0"/>
          </a:xfrm>
          <a:prstGeom prst="line">
            <a:avLst/>
          </a:prstGeom>
          <a:ln w="12700">
            <a:solidFill>
              <a:srgbClr val="0B1220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2578608" y="3523640"/>
            <a:ext cx="182880" cy="0"/>
          </a:xfrm>
          <a:prstGeom prst="line">
            <a:avLst/>
          </a:prstGeom>
          <a:ln w="12700">
            <a:solidFill>
              <a:srgbClr val="0B1220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578608" y="4672584"/>
            <a:ext cx="182880" cy="0"/>
          </a:xfrm>
          <a:prstGeom prst="line">
            <a:avLst/>
          </a:prstGeom>
          <a:ln w="12700">
            <a:solidFill>
              <a:srgbClr val="0B1220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78608" y="5718657"/>
            <a:ext cx="182880" cy="0"/>
          </a:xfrm>
          <a:prstGeom prst="line">
            <a:avLst/>
          </a:prstGeom>
          <a:ln w="12700">
            <a:solidFill>
              <a:srgbClr val="0B1220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2761488" y="2168956"/>
            <a:ext cx="0" cy="3549701"/>
          </a:xfrm>
          <a:prstGeom prst="line">
            <a:avLst/>
          </a:prstGeom>
          <a:ln w="12700">
            <a:solidFill>
              <a:srgbClr val="0B1220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2761488" y="2671876"/>
            <a:ext cx="182880" cy="0"/>
          </a:xfrm>
          <a:prstGeom prst="line">
            <a:avLst/>
          </a:prstGeom>
          <a:ln w="12700">
            <a:solidFill>
              <a:srgbClr val="0B1220"/>
            </a:solidFill>
            <a:tailEnd type="triangle" w="med" len="med"/>
          </a:ln>
        </p:spPr>
      </p:cxnSp>
      <p:cxnSp>
        <p:nvCxnSpPr>
          <p:cNvPr id="19" name="Connector 18"/>
          <p:cNvCxnSpPr/>
          <p:nvPr/>
        </p:nvCxnSpPr>
        <p:spPr>
          <a:xfrm>
            <a:off x="3703320" y="3322929"/>
            <a:ext cx="0" cy="502920"/>
          </a:xfrm>
          <a:prstGeom prst="line">
            <a:avLst/>
          </a:prstGeom>
          <a:ln w="12700">
            <a:solidFill>
              <a:srgbClr val="0B1220"/>
            </a:solidFill>
            <a:tailEnd type="triangle" w="med" len="med"/>
          </a:ln>
        </p:spPr>
      </p:cxnSp>
      <p:cxnSp>
        <p:nvCxnSpPr>
          <p:cNvPr id="20" name="Connector 19"/>
          <p:cNvCxnSpPr/>
          <p:nvPr/>
        </p:nvCxnSpPr>
        <p:spPr>
          <a:xfrm>
            <a:off x="4462272" y="4476902"/>
            <a:ext cx="246888" cy="0"/>
          </a:xfrm>
          <a:prstGeom prst="line">
            <a:avLst/>
          </a:prstGeom>
          <a:ln w="12700">
            <a:solidFill>
              <a:srgbClr val="0B1220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709160" y="2084832"/>
            <a:ext cx="0" cy="3343960"/>
          </a:xfrm>
          <a:prstGeom prst="line">
            <a:avLst/>
          </a:prstGeom>
          <a:ln w="12700">
            <a:solidFill>
              <a:srgbClr val="0B1220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4709160" y="2084832"/>
            <a:ext cx="246888" cy="0"/>
          </a:xfrm>
          <a:prstGeom prst="line">
            <a:avLst/>
          </a:prstGeom>
          <a:ln w="12700">
            <a:solidFill>
              <a:srgbClr val="0B1220"/>
            </a:solidFill>
            <a:tailEnd type="triangle" w="med" len="med"/>
          </a:ln>
        </p:spPr>
      </p:cxnSp>
      <p:cxnSp>
        <p:nvCxnSpPr>
          <p:cNvPr id="23" name="Connector 22"/>
          <p:cNvCxnSpPr/>
          <p:nvPr/>
        </p:nvCxnSpPr>
        <p:spPr>
          <a:xfrm>
            <a:off x="4709160" y="5428792"/>
            <a:ext cx="246888" cy="0"/>
          </a:xfrm>
          <a:prstGeom prst="line">
            <a:avLst/>
          </a:prstGeom>
          <a:ln w="12700">
            <a:solidFill>
              <a:srgbClr val="0B1220"/>
            </a:solidFill>
            <a:tailEnd type="triangle" w="med" len="med"/>
          </a:ln>
        </p:spPr>
      </p:cxnSp>
      <p:cxnSp>
        <p:nvCxnSpPr>
          <p:cNvPr id="24" name="Connector 23"/>
          <p:cNvCxnSpPr/>
          <p:nvPr/>
        </p:nvCxnSpPr>
        <p:spPr>
          <a:xfrm>
            <a:off x="6766560" y="2084832"/>
            <a:ext cx="274320" cy="0"/>
          </a:xfrm>
          <a:prstGeom prst="line">
            <a:avLst/>
          </a:prstGeom>
          <a:ln w="12700">
            <a:solidFill>
              <a:srgbClr val="0B1220"/>
            </a:solidFill>
            <a:tailEnd type="triangle" w="med" len="med"/>
          </a:ln>
        </p:spPr>
      </p:cxnSp>
      <p:cxnSp>
        <p:nvCxnSpPr>
          <p:cNvPr id="25" name="Connector 24"/>
          <p:cNvCxnSpPr/>
          <p:nvPr/>
        </p:nvCxnSpPr>
        <p:spPr>
          <a:xfrm>
            <a:off x="9656064" y="2084832"/>
            <a:ext cx="292608" cy="0"/>
          </a:xfrm>
          <a:prstGeom prst="line">
            <a:avLst/>
          </a:prstGeom>
          <a:ln w="12700">
            <a:solidFill>
              <a:srgbClr val="0B1220"/>
            </a:solidFill>
            <a:tailEnd type="triangle" w="med" len="med"/>
          </a:ln>
        </p:spPr>
      </p:cxnSp>
      <p:cxnSp>
        <p:nvCxnSpPr>
          <p:cNvPr id="26" name="Connector 25"/>
          <p:cNvCxnSpPr/>
          <p:nvPr/>
        </p:nvCxnSpPr>
        <p:spPr>
          <a:xfrm>
            <a:off x="6766560" y="5428792"/>
            <a:ext cx="274320" cy="0"/>
          </a:xfrm>
          <a:prstGeom prst="line">
            <a:avLst/>
          </a:prstGeom>
          <a:ln w="12700">
            <a:solidFill>
              <a:srgbClr val="0B1220"/>
            </a:solidFill>
            <a:tailEnd type="triangle" w="med" len="med"/>
          </a:ln>
        </p:spPr>
      </p:cxnSp>
      <p:cxnSp>
        <p:nvCxnSpPr>
          <p:cNvPr id="27" name="Connector 26"/>
          <p:cNvCxnSpPr/>
          <p:nvPr/>
        </p:nvCxnSpPr>
        <p:spPr>
          <a:xfrm>
            <a:off x="9656064" y="5428792"/>
            <a:ext cx="292608" cy="0"/>
          </a:xfrm>
          <a:prstGeom prst="line">
            <a:avLst/>
          </a:prstGeom>
          <a:ln w="12700">
            <a:solidFill>
              <a:srgbClr val="0B1220"/>
            </a:solidFill>
            <a:tailEnd type="triangle" w="med" len="med"/>
          </a:ln>
        </p:spPr>
      </p:cxnSp>
      <p:cxnSp>
        <p:nvCxnSpPr>
          <p:cNvPr id="28" name="Connector 27"/>
          <p:cNvCxnSpPr/>
          <p:nvPr/>
        </p:nvCxnSpPr>
        <p:spPr>
          <a:xfrm flipV="1">
            <a:off x="8348472" y="3025749"/>
            <a:ext cx="0" cy="1836115"/>
          </a:xfrm>
          <a:prstGeom prst="line">
            <a:avLst/>
          </a:prstGeom>
          <a:ln w="12700">
            <a:solidFill>
              <a:srgbClr val="0B1220"/>
            </a:solidFill>
            <a:tailEnd type="triangle" w="med" len="med"/>
          </a:ln>
        </p:spPr>
      </p:cxnSp>
      <p:sp>
        <p:nvSpPr>
          <p:cNvPr id="29" name="TextBox 28"/>
          <p:cNvSpPr txBox="1"/>
          <p:nvPr/>
        </p:nvSpPr>
        <p:spPr>
          <a:xfrm>
            <a:off x="8430768" y="3779215"/>
            <a:ext cx="2743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3F4652"/>
                </a:solidFill>
                <a:latin typeface="Arial"/>
              </a:rPr>
              <a:t>registered model, SHA-256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10876788" y="3025749"/>
            <a:ext cx="0" cy="1836115"/>
          </a:xfrm>
          <a:prstGeom prst="line">
            <a:avLst/>
          </a:prstGeom>
          <a:ln w="12700">
            <a:solidFill>
              <a:srgbClr val="0B1220"/>
            </a:solidFill>
            <a:tailEnd type="triangle" w="med" len="med"/>
          </a:ln>
        </p:spPr>
      </p:cxnSp>
      <p:sp>
        <p:nvSpPr>
          <p:cNvPr id="31" name="TextBox 30"/>
          <p:cNvSpPr txBox="1"/>
          <p:nvPr/>
        </p:nvSpPr>
        <p:spPr>
          <a:xfrm>
            <a:off x="10959084" y="3779215"/>
            <a:ext cx="2743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3F4652"/>
                </a:solidFill>
                <a:latin typeface="Arial"/>
              </a:rPr>
              <a:t>evidence page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6473952" y="3025749"/>
            <a:ext cx="0" cy="1836115"/>
          </a:xfrm>
          <a:prstGeom prst="line">
            <a:avLst/>
          </a:prstGeom>
          <a:ln w="12700">
            <a:solidFill>
              <a:srgbClr val="0B1220"/>
            </a:solidFill>
            <a:prstDash val="dash"/>
          </a:ln>
        </p:spPr>
      </p:cxnSp>
      <p:sp>
        <p:nvSpPr>
          <p:cNvPr id="33" name="TextBox 32"/>
          <p:cNvSpPr txBox="1"/>
          <p:nvPr/>
        </p:nvSpPr>
        <p:spPr>
          <a:xfrm>
            <a:off x="6556248" y="3779215"/>
            <a:ext cx="2743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3F4652"/>
                </a:solidFill>
                <a:latin typeface="Arial"/>
              </a:rPr>
              <a:t>same feature + adaptation code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" y="1517904"/>
            <a:ext cx="2103120" cy="130210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12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" y="1627632"/>
            <a:ext cx="1883663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Static stream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1920240"/>
            <a:ext cx="1883663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baseline profile (EHR-like)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age, sex, BMI, HbA1c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fasting glucose, insulin,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triglycerides, HDL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2975457"/>
            <a:ext cx="2103120" cy="109636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12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6" y="3085185"/>
            <a:ext cx="1883663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Dynamic 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" y="3377793"/>
            <a:ext cx="1883663" cy="617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Dexcom G6 CGM, native 5-min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Fitbit heart rate, METs,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activity minutes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" y="4227271"/>
            <a:ext cx="2103120" cy="8906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12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5216" y="4336999"/>
            <a:ext cx="1883663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Synthetic patients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" y="4629607"/>
            <a:ext cx="1883663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5 fictional profiles (CC0)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gaps, late meals, short history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" y="5273344"/>
            <a:ext cx="2103120" cy="8906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12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6" y="5383072"/>
            <a:ext cx="1883663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External cohort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" y="5675680"/>
            <a:ext cx="1883663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ShanghaiT2DM, 98 people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15-min CGM, research only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44368" y="2020824"/>
            <a:ext cx="1517904" cy="130210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12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54096" y="2130552"/>
            <a:ext cx="129844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Dataset adapter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54096" y="2423160"/>
            <a:ext cx="1298448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SHA-256 verified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native readings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observed_at stamp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available_at stamp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944368" y="3825849"/>
            <a:ext cx="1517904" cy="130210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12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54096" y="3935577"/>
            <a:ext cx="129844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Canonical store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54096" y="4228185"/>
            <a:ext cx="1298448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Parquet per patient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SQLite index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quality flag per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reading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56048" y="1517904"/>
            <a:ext cx="1810512" cy="150784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12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65776" y="1627632"/>
            <a:ext cx="1591056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Replay session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65776" y="1920240"/>
            <a:ext cx="1591056" cy="1028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backend-owned clock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releases a reading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once available_at ≤ t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seek / reset → new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revision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040880" y="1517904"/>
            <a:ext cx="2615184" cy="150784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2563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50608" y="1627632"/>
            <a:ext cx="239572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Twin engine (serving model)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50608" y="1920240"/>
            <a:ext cx="2395728" cy="1028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1  causal features, ≤ 180 min history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2  fusion LightGBM: 8 profile + 38 dynamic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3  bounded patient update (±25 mg/dL)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4  80 % range · warning &gt; 180 mg/dL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5  abstain / degraded / stale guards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948672" y="1517904"/>
            <a:ext cx="1856231" cy="150784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12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58400" y="1627632"/>
            <a:ext cx="1636775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Clinician dashboard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1920240"/>
            <a:ext cx="1636775" cy="1028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FastAPI /api/v1 → React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warnings with outcomes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clinician review + note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review ledger (SQLite)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evidence · data quality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956048" y="4861864"/>
            <a:ext cx="1810512" cy="130210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12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65776" y="4971592"/>
            <a:ext cx="1591056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Origin table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65776" y="5264200"/>
            <a:ext cx="1591056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causal features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targets +30 / +60 min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split 60/10/10/20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purged boundaries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040880" y="4861864"/>
            <a:ext cx="2615184" cy="130210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12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50608" y="4971592"/>
            <a:ext cx="239572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Frozen experiment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50608" y="5264200"/>
            <a:ext cx="2395728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baselines: persistence, trend, Ridge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LightGBM · CatBoost search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validation-only selection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one final-test run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948672" y="4861864"/>
            <a:ext cx="1856231" cy="130210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12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58400" y="4971592"/>
            <a:ext cx="1636775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Evidence + registry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58400" y="5264200"/>
            <a:ext cx="1636775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metrics.json, report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model card, disclosures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checksummed artifacts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rollback to previous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956048" y="3304184"/>
            <a:ext cx="1444752" cy="109636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F465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65776" y="3413912"/>
            <a:ext cx="1225296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Candidates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65776" y="3706520"/>
            <a:ext cx="1225296" cy="617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research only, offline;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served only if every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release gate passes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5760" y="6438290"/>
            <a:ext cx="115214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3F4652"/>
                </a:solidFill>
                <a:latin typeface="Arial"/>
              </a:rPr>
              <a:t>Solid arrow: data flow   ·   Dashed line: identical code offline and online   ·   Blue: serving model   ·   Dashed box: research only, not served   ·   CPU only, local, no cloud, no LLM   ·   not a medical device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Models and personalization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Fusion: the serving model reads 38 dynamic features (CGM history, wearable heart rate and activity) and 8 static baseline profile values (age, sex, BMI, HbA1c, fasting glucose and insulin, triglycerides, HDL) in one model.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Baselines: persistence, bounded linear trend, ridge regression.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Direct per-horizon gradient-boosted trees: LightGBM (starting point) and CatBoost (challenger), equal 12-trial seeded searches, identical inputs and origins.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Patient adaptation (same policy for both families): shrunk, bounded, decaying mean of matured residuals vs the frozen population forecast; weights never refit.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Prediction ranges: split-conformal, target coverage 80 %, calibrated on the calibration segment for the exact serving pipeline.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Warning: max forecast within 60 min − 180 mg/dL — an uncalibrated score, never shown as a probability.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Why this learner: validation-only selection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7498079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1874519"/>
                <a:gridCol w="1874522"/>
              </a:tblGrid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220"/>
                          </a:solidFill>
                          <a:latin typeface="Arial"/>
                        </a:rPr>
                        <a:t>Candidate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220"/>
                          </a:solidFill>
                          <a:latin typeface="Arial"/>
                        </a:rPr>
                        <a:t>Val. MAE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220"/>
                          </a:solidFill>
                          <a:latin typeface="Arial"/>
                        </a:rPr>
                        <a:t>Val. MAE 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220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220"/>
                          </a:solidFill>
                          <a:latin typeface="Arial"/>
                        </a:rPr>
                        <a:t>lightgbm:dyn-prof-v2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220"/>
                          </a:solidFill>
                          <a:latin typeface="Arial"/>
                        </a:rPr>
                        <a:t>13.47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220"/>
                          </a:solidFill>
                          <a:latin typeface="Arial"/>
                        </a:rPr>
                        <a:t>21.26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220"/>
                          </a:solidFill>
                          <a:latin typeface="Arial"/>
                        </a:rPr>
                        <a:t>17.36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catboost:dyn-prof-v2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13.56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21.31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17.44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lightgbm:dyn-v2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13.76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21.73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17.75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catboost:dyn-v2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13.88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21.66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17.77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ridge:dyn-v2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14.13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22.44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18.28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ridge:dyn-prof-v2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14.21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22.61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18.41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linear_trend:cgm-only-v1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15.66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26.33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20.99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persistence:cgm-only-v1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16.51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26.32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21.42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21040" y="123444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B1220"/>
                </a:solidFill>
                <a:latin typeface="Arial"/>
              </a:rPr>
              <a:t>Declared rule: lowest mean per-participant MAE over both horizons; candidates within 0.5 mg/dL tie → simpler family, then smaller feature set. Eligible for serving: dyn-prof-v2 only (profile + wearable), a constraint added on 2026-10-13 after the test segment had been inspected, to meet the fusion requirement. Selected: lightgbm:dyn-prof-v2 with patient adaptation. Without the constraint the same rule picks lightgbm:dyn-v2 (the earlier model, gt-primary-2026-10-11-v2).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Fusion: what the profile adds, and what it does not show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The brief asks for a model that ingests static EHR-like data and dynamic wearable data. The demo model (LightGBM, dyn-prof-v2) reads 8 baseline profile values and 38 glucose and wearable features in one model.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Same 14 people, later days (test): profile minus dynamic-only -0.25 mg/dL [-0.43, -0.04] at 30 min and -0.61 mg/dL [-1.15, -0.09] at 60 min (negative = profile better). Profile values are constant per person, so here they can act as an identity code.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People held out entirely (nested experiment): +0.34 [-0.28, +0.89] mg/dL at 30 min and -0.75 [-2.19, +0.61] mg/dL at 60 min — no reliable benefit for new people.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Selection: the v2 rule applied only to profile + wearable models — a constraint declared on 2026-10-13, after the test segment had been inspected. Test MAE 12.96 / 20.26 mg/dL vs 13.15 / 20.81 for the dynamic-only model (gt-primary-2026-10-11-v2): retrospective, same people.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Warnings: margin re-derived by the same F1 rule (-10 vs -30 mg/dL): 1.49 vs 2.95 false alarms per observed day, 61/64 vs 64/64 onsets, forecast lead median 30 vs 55 min. A threshold trade-off, not evidence that the profile helps.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Our claim: we selected a model that implements the required fusion; we have not established that profile features improve forecasting for unseen patients.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Clinician workflow: the twin workspace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11</a:t>
            </a:r>
          </a:p>
        </p:txBody>
      </p:sp>
      <p:pic>
        <p:nvPicPr>
          <p:cNvPr id="5" name="Picture 4" descr="03-forecast-with-interval-recor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118872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978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B1220"/>
                </a:solidFill>
                <a:latin typeface="Arial"/>
              </a:rPr>
              <a:t>Recorded-data replay in the final test period (later recordings of participants the model was trained on): current glucose, 30/60-minute forecasts with prediction ranges (target coverage 80 %), saved earlier forecasts, research warnings with outcomes, review status and the live safety guardrails.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Demonstration: evidence behind a forecast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12</a:t>
            </a:r>
          </a:p>
        </p:txBody>
      </p:sp>
      <p:pic>
        <p:nvPicPr>
          <p:cNvPr id="5" name="Picture 4" descr="04-forecast-evidence-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118872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978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B1220"/>
                </a:solidFill>
                <a:latin typeface="Arial"/>
              </a:rPr>
              <a:t>Each forecast is immutable and inspectable: information cutoff, model version, evaluation segment, population forecast vs patient correction, factual explanations.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Safety guardrails built into the twin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Abstains instead of guessing: no forecast with under 60 min of history, a sparse last hour or no new reading; after 15 min without one the last forecast is marked Stale. Weak inputs (gaps, sensor-limit readings, missing wearable data) are flagged Degraded, with the reason.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The fusion model abstains when a health-record value is missing or not yet available; no input is used before the time it became available (native CGM readings only).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Personal correction bounded: learns only from forecasts whose outcome was observed, needs 6, capped at ±25 mg/dL, resets after a 3-hour gap.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Every warning is a labelled research warning: Outcome pending until it can be judged, then matched to an onset, counted as a false alarm or marked unknown; firings within 30 min merge into one episode.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Uncertainty and limits shown: 80 % prediction ranges with measured coverage; not a medical device, no treatment advice, replay only.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Evaluation cannot be quietly re-run: opened tests are locked; research runs cannot change the demo model; the app reproduced all 15,440 saved test forecasts within 0.05 mg/dL.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Results at a glance: three kinds of evidence, kept apart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64240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846320"/>
                <a:gridCol w="1783080"/>
                <a:gridCol w="1783080"/>
              </a:tblGrid>
              <a:tr h="420624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B1220"/>
                          </a:solidFill>
                          <a:latin typeface="Arial"/>
                        </a:rPr>
                        <a:t>Evaluated 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B1220"/>
                          </a:solidFill>
                          <a:latin typeface="Arial"/>
                        </a:rPr>
                        <a:t>Model or procedure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B1220"/>
                          </a:solidFill>
                          <a:latin typeface="Arial"/>
                        </a:rPr>
                        <a:t>MAE 30 / 60 min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B1220"/>
                          </a:solidFill>
                          <a:latin typeface="Arial"/>
                        </a:rPr>
                        <a:t>Persistence 30 / 60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 gridSpan="4"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2563EB"/>
                          </a:solidFill>
                          <a:latin typeface="Arial"/>
                        </a:rPr>
                        <a:t>Serving model — later recordings of the same 14 CGMacros Type 2 people (a test over time, retrospective)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T="38100" marB="381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T="38100" marB="381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B1220"/>
                          </a:solidFill>
                          <a:latin typeface="Arial"/>
                        </a:rPr>
                        <a:t>Final 20 % of each recording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B1220"/>
                          </a:solidFill>
                          <a:latin typeface="Arial"/>
                        </a:rPr>
                        <a:t>Fusion LightGBM + bounded patient correction (serving)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B1220"/>
                          </a:solidFill>
                          <a:latin typeface="Arial"/>
                        </a:rPr>
                        <a:t>12.96 / 20.26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B1220"/>
                          </a:solidFill>
                          <a:latin typeface="Arial"/>
                        </a:rPr>
                        <a:t>14.84 / 23.23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 gridSpan="4"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2563EB"/>
                          </a:solidFill>
                          <a:latin typeface="Arial"/>
                        </a:rPr>
                        <a:t>Participant-held-out research — 14 CGMacros people, each held out once (internal validation)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T="38100" marB="381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T="38100" marB="381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B1220"/>
                          </a:solidFill>
                          <a:latin typeface="Arial"/>
                        </a:rPr>
                        <a:t>Five participant folds (D-032)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B1220"/>
                          </a:solidFill>
                          <a:latin typeface="Arial"/>
                        </a:rPr>
                        <a:t>CGM-only procedure (Ridge in 4 of 5 folds), not served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B1220"/>
                          </a:solidFill>
                          <a:latin typeface="Arial"/>
                        </a:rPr>
                        <a:t>13.88 / 22.30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B1220"/>
                          </a:solidFill>
                          <a:latin typeface="Arial"/>
                        </a:rPr>
                        <a:t>15.34 / 24.47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B1220"/>
                          </a:solidFill>
                          <a:latin typeface="Arial"/>
                        </a:rPr>
                        <a:t>Same folds (D-053)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B1220"/>
                          </a:solidFill>
                          <a:latin typeface="Arial"/>
                        </a:rPr>
                        <a:t>Peak-aware constrained fusion selection, not adopted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B1220"/>
                          </a:solidFill>
                          <a:latin typeface="Arial"/>
                        </a:rPr>
                        <a:t>13.89 / 22.00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B1220"/>
                          </a:solidFill>
                          <a:latin typeface="Arial"/>
                        </a:rPr>
                        <a:t>15.34 / 24.47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B1220"/>
                          </a:solidFill>
                          <a:latin typeface="Arial"/>
                        </a:rPr>
                        <a:t>Same 14 people (D-054)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B1220"/>
                          </a:solidFill>
                          <a:latin typeface="Arial"/>
                        </a:rPr>
                        <a:t>Zero-shot foundation model, CGM only, not served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B1220"/>
                          </a:solidFill>
                          <a:latin typeface="Arial"/>
                        </a:rPr>
                        <a:t>14.55 / 22.92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B1220"/>
                          </a:solidFill>
                          <a:latin typeface="Arial"/>
                        </a:rPr>
                        <a:t>15.34 / 24.47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 gridSpan="4"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2563EB"/>
                          </a:solidFill>
                          <a:latin typeface="Arial"/>
                        </a:rPr>
                        <a:t>External check — ShanghaiT2DM, 98 people, CGM only; D-045 was the cohort's second opening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T="38100" marB="381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T="38100" marB="381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B1220"/>
                          </a:solidFill>
                          <a:latin typeface="Arial"/>
                        </a:rPr>
                        <a:t>98 people, 15-min CGM (D-045)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B1220"/>
                          </a:solidFill>
                          <a:latin typeface="Arial"/>
                        </a:rPr>
                        <a:t>Separate 15-min LightGBM, CGM only, not served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B1220"/>
                          </a:solidFill>
                          <a:latin typeface="Arial"/>
                        </a:rPr>
                        <a:t>10.90 / 19.31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0B1220"/>
                          </a:solidFill>
                          <a:latin typeface="Arial"/>
                        </a:rPr>
                        <a:t>12.14 / 20.44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568696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B1220"/>
                </a:solidFill>
                <a:latin typeface="Arial"/>
              </a:rPr>
              <a:t>Mean absolute error in mg/dL, averaged equally over participants: an average error, not an accuracy percentage. Each group is a different model and a different test — do not compare across groups. Serving ranges (target 80 %) covered 74.2 % / 74.0 %: under-coverage. Research rows are read from each study's locked summary.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Arial"/>
              </a:rPr>
              <a:t>SERVING MODEL · later recordings of the same 14 participants it was trained on — not new people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Measured evaluation: forecast accuracy (later days)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15</a:t>
            </a:r>
          </a:p>
        </p:txBody>
      </p:sp>
      <p:pic>
        <p:nvPicPr>
          <p:cNvPr id="6" name="Picture 5" descr="fig_mae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3964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8978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B1220"/>
                </a:solidFill>
                <a:latin typeface="Arial"/>
              </a:rPr>
              <a:t>Later recordings of the same 14 participants the model was trained on — not new patients. Serving − persistence: -1.88 mg/dL [-2.53, -1.32] at 30 min, -2.96 mg/dL [-4.34, -1.77] at 60 min. Test origins 7,730 (≈ 644 h); forecasts issued for 99.9 % of origins with a target.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Arial"/>
              </a:rPr>
              <a:t>SERVING MODEL · later recordings of the same 14 participants it was trained on — not new people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Measured evaluation: does personalization help?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16</a:t>
            </a:r>
          </a:p>
        </p:txBody>
      </p:sp>
      <p:pic>
        <p:nvPicPr>
          <p:cNvPr id="6" name="Picture 5" descr="fig_paired_differ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32017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8978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B1220"/>
                </a:solidFill>
                <a:latin typeface="Arial"/>
              </a:rPr>
              <a:t>Adaptation (LightGBM): -0.18 mg/dL [-0.35, -0.01] at 30 min, -0.33 mg/dL [-0.68, 0.02] at 60 min — small; population 13.14 / 20.59, frozen state 13.19 / 20.65, adaptive 12.96 / 20.26 mg/dL. New-participant cold start: 14.66/24.26 → 13.81/22.12 mg/dL with adaptation.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Arial"/>
              </a:rPr>
              <a:t>SERVING MODEL · later recordings of the same 14 participants it was trained on — not new people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Measured evaluation: every participant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17</a:t>
            </a:r>
          </a:p>
        </p:txBody>
      </p:sp>
      <p:pic>
        <p:nvPicPr>
          <p:cNvPr id="6" name="Picture 5" descr="fig_per_particip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817" y="1188720"/>
            <a:ext cx="10338061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8978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B1220"/>
                </a:solidFill>
                <a:latin typeface="Arial"/>
              </a:rPr>
              <a:t>Per-participant test MAE, persistence vs the serving pipeline. Gains are uneven: large for some participants, none for a few at 60 minutes. Fourteen people cannot establish population-level performance.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Arial"/>
              </a:rPr>
              <a:t>SERVING MODEL · later recordings of the same 14 participants it was trained on — not new people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Measured evaluation: early warning and uncertainty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60-min warning (test, margin threshold -10 mg/dL chosen on validation by F1): 61/64 new onsets detected, precision 0.60, 40 false alarms (1.49 per observed patient-day; 2.28 per eligible day); forecast lead median 30 min among detected onsets (episode start 30 min). Detection is not notice: 48.4 % of all onsets were warned at least 30 min ahead.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Same procedure on persistence (fires at glucose ≥ 150): 63/64 detected, 70 false alarms (2.61 per observed patient-day; 4.00 per eligible day).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Prediction ranges (target coverage 80 %) covered 74.2 % (30 min) and 74.0 % (60 min) on test, 60–82 % and 51–88 % per participant — under-covered; no guarantee claimed.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Optimistic meal logging: 19.07 vs 20.59 mg/dL at 60 min — timely meal data would likely help most.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Arial"/>
              </a:rPr>
              <a:t>RESEARCH · each participant held out entirely · internal validation · not the serving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Research: people held out entirely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Models kept separate: the v2 recipe (LightGBM, dynamic streams only; the demo model when this experiment was declared) and a Ridge five-minute candidate on CGM-only features. Neither is the serving model.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145 participants imported; 14 evaluated here (five participant folds, each person held out once, protocol frozen before fitting, D-032).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Held-out people, 30 / 60 min: candidate 13.88 / 22.30 vs v2 recipe refit 14.52 / 24.25 vs persistence 15.34 / 24.47 mg/dL — but worse on large highs (+2.71 [+0.28, +5.11] mg/dL at 60 min when the target exceeded 180).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Warnings chosen for ≤ 2 false alarms per day: 301/329 onsets at 1.31 false alarms per observed day (v2 recipe: 329/329 at 2.80).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Not promoted, and not eligible as the demo model: the Ridge candidate reads CGM only. CGMacros was already inspected, so its folds are internal validation; the next protocol also bounds high-glucose error, missed onsets and false warnings (declared, not run).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Arial"/>
              </a:rPr>
              <a:t>RESEARCH · each participant held out entirely · internal validation · not the serving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Research: warning two hours ahead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The brief's example is a spike predicted 2 hours ahead. Declared before any fit (decision D-043): the people-held-out procedure above, same folds, plus a 120-minute horizon. 14 people, each held out once; not the demo model, nothing promoted.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Forecast error at 120 min: 30.6 mg/dL vs persistence 35.9 (-5.25 [-6.44, -4.05] mg/dL); at 60 min 22.3 vs 24.5.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120-min warning: 315/329 onsets warned, 1.62 false alarms per observed day, median forecast lead 15 min. For comparison, 60-min warning: 313/329 onsets warned, 1.48 false alarms per observed day, median forecast lead 10 min.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Profile (EHR-like) inputs at 120 min, LightGBM with minus without: -0.86 [-2.60, +1.02] mg/dL (no reliable benefit on people held out).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Thresholds chosen on development folds only (≤ 2 false alarms per observed day); each test fold opened once. The 14 people were inspected in earlier experiments, so this is internal validation.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Arial"/>
              </a:rPr>
              <a:t>RESEARCH · each participant held out entirely · internal validation · not the serving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Research: what we fixed, and what we could not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>
                <a:solidFill>
                  <a:srgbClr val="0B1220"/>
                </a:solidFill>
                <a:latin typeface="Arial"/>
              </a:rPr>
              <a:t>•  We declared each study before its own run. Later studies reused previously inspected participants, so those results are internal validation.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0B1220"/>
                </a:solidFill>
                <a:latin typeface="Arial"/>
              </a:rPr>
              <a:t>•  Fixed — prediction ranges: calibrating on all development people instead of 2 per fold raised two-hour coverage from 76.5 % to 79.8 % (target 80 %; 60 min 78.2 → 79.5 %), ranges 7 mg/dL wider.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0B1220"/>
                </a:solidFill>
                <a:latin typeface="Arial"/>
              </a:rPr>
              <a:t>•  Not shown — earlier warning: 126 vs 123 of 329 onsets warned ≥ 30 min ahead (+0.9 points [-5.5, +6.6]) at the same workload; median lead still 15 min.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0B1220"/>
                </a:solidFill>
                <a:latin typeface="Arial"/>
              </a:rPr>
              <a:t>•  Not shown — health record as a new person's starting correction: -0.53 [-1.57, +0.58] mg/dL at 120 min, -0.93 [-2.74, +0.48] in the first 24 hours; the intervals cross zero, so no benefit is claimed.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0B1220"/>
                </a:solidFill>
                <a:latin typeface="Arial"/>
              </a:rPr>
              <a:t>•  Not adopted — a LightGBM–CatBoost blend (D-048): +0.02 mg/dL at 60 min on development people against a 0.5 target; held-out folds never opened.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0B1220"/>
                </a:solidFill>
                <a:latin typeface="Arial"/>
              </a:rPr>
              <a:t>•  Not adopted — fixed and tuned retraining (D-049, D-051): best 60-min gain +0.41 mg/dL (fixed), -0.37 [-0.63, -0.06] with tuning, below the declared 0.5 bar.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0B1220"/>
                </a:solidFill>
                <a:latin typeface="Arial"/>
              </a:rPr>
              <a:t>•  Not adopted — joint selection (D-052, 1,570 fresh fits): -0.88 [-1.75, -0.13] mg/dL at 60 min vs the refitted serving recipe, but +1.70 on peaks above 180 and +0.60 false alarms/day — gates not met.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0B1220"/>
                </a:solidFill>
                <a:latin typeface="Arial"/>
              </a:rPr>
              <a:t>•  The demo model's ranges are already pooled over all 14 people; its under-coverage most likely comes from drift between time segments, so this fix is not applied to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Arial"/>
              </a:rPr>
              <a:t>RESEARCH · each participant held out entirely · internal validation · not the serving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Research: peak-aware selection (D-053), a near miss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Declared before any formal fit; inside each held-out fold, model settings, a training weight on future readings above 180 and the patient correction were chosen on development people only, with a guard on high-reading error. 1,490 fresh fits, 0 failures.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60 min, against the serving recipe refitted in the same folds: 22.00 vs 23.20 mg/dL, -1.19 [-2.09, -0.39], lower for 11 of 14 people; 30 min -0.50 [-0.77, -0.24].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Primary gate not met: error on readings above 180 changed by +1.07 mg/dL against a declared limit of +1.0.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Warning guardrails passed: 1.15 vs 1.20 false alarms per observed day; 21.9 % vs 16.4 % of onsets warned ≥ 30 min ahead. Exact-predictor 80 % ranges covered 79.4 % / 77.3 % (range guardrails passed).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Not adopted: one declared gate failed, so the serving model is unchanged.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Previously inspected people: internal validation. Absolute errors are not comparable with D-052's; only the matched comparison 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Arial"/>
              </a:rPr>
              <a:t>RESEARCH · 14 previously inspected people · internal comparison · CGM only · not served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Research: a zero-shot foundation-model baseline (D-054)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What: amazon/chronos-bolt-tiny (pinned revision, 8.7 M parameters, apache-2.0), zero-shot on CGM only: each forecast origin is its own series of past readings; median forecast fixed in advance. Not fine-tuned, not a fusion model, not served. Its public pretraining data may include CGM recordings.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Against carrying the last reading forward, on identical origins: -0.79 [-1.01, -0.59] mg/dL at 30 min and -1.54 [-1.81, -1.30] at 60 min (macro MAE 22.92 vs 24.47; lower for 14 of 14 people).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Against the serving recipe refitted with each person held out (saved from D-052): +0.42 [-0.70, +1.47] mg/dL at 60 min (22.92 vs 22.50) — not better, and clearly worse on readings above 180.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Declared secondary: the foundation forecast plus a freshly fitted LightGBM residual on the served inputs, -0.46 [-0.72, -0.21] mg/dL at 60 min against the same-code refit. Descriptive only; not a release candidate.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Declared before any participant forecast; the 14 people were inspected in earlier experiments, so this is an internal comparison, not independent confirmation.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Arial"/>
              </a:rPr>
              <a:t>RESEARCH · external cohort, CGM only · not the serving fusion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External check: an independent Type 2 cohort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Who: 98 adults with Type 2 diabetes in ShanghaiT2DM (China, FreeStyle Libre H, 15-minute readings), never trained on. No wearable or dated labs, so this checks the forecasting core only, not the fusion.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What: a separate 15-minute LightGBM on CGM-only features, developed on CGMacros. It is not the serving fusion model and not the Ridge candidate.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30 / 60 minutes (D-032, the cohort's first opening): -0.99 [-1.21, -0.77] mg/dL at 30 min (clear) and -0.34 [-0.76, +0.10] mg/dL at 60 min (inconclusive), versus carrying the last reading forward.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Two hours ahead (D-045, declared before any fit; its first 120-minute assessment and the cohort's second opening): 29.6 vs persistence 31.7 mg/dL at 120 min (-2.12 [-2.67, -1.53]), better for 78 of 98 people.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Nothing was chosen on this cohort; other frozen pipelines were reported but not adopted, because choosing on it would turn it into a tuning set.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Project outcomes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Built: a working personalized glucose twin — replay API with a backend-owned clock, immutable forecasts, research warnings with outcomes — and a clinician workspace (landing page, Overview, Participants, Replay sessions, Model evidence, Data quality).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Found and corrected a data-provenance problem: the published 1-minute CGM values are interpolated; only native 5-minute readings are used.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Measured on later recordings of the same participants (retrospective): 14/14 participants improved over persistence at 30 min and 13/14 at 60 min; MAE 12.96 / 20.26 mg/dL vs 14.84 / 23.23.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Personalization: small gains (-0.18 mg/dL and -0.33 mg/dL). Warnings: 61/64 onsets detected with 40 false alarms (1.49 per observed patient-day); 48.4 % of all onsets warned at least 30 min ahead — the F1 threshold rule ignores review workload.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Corrected after an independent review (activity-window defect, online warning double-credit; gt-primary-2026-10-11-v1 preserved), then re-run with the fusion constraint (gt-primary-2026-10-13-fusion); the dynamic-only model of gt-primary-2026-10-11-v2 stays registered for rollback.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Reproducible: synthetic mode needs no download; recorded-data results regenerate from versioned configs; a fresh copy passes the automated backend, frontend and browser tests.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Limitations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>
                <a:solidFill>
                  <a:srgbClr val="0B1220"/>
                </a:solidFill>
                <a:latin typeface="Arial"/>
              </a:rPr>
              <a:t>•  14 participants from one US site; overlapping windows are not independent patients.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0B1220"/>
                </a:solidFill>
                <a:latin typeface="Arial"/>
              </a:rPr>
              <a:t>•  No Indian participants — nothing here establishes performance for patients in India.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0B1220"/>
                </a:solidFill>
                <a:latin typeface="Arial"/>
              </a:rPr>
              <a:t>•  Blinded research CGMs replayed with assumed zero latency; native timestamps known to the minute.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0B1220"/>
                </a:solidFill>
                <a:latin typeface="Arial"/>
              </a:rPr>
              <a:t>•  Medication and insulin use unknown; meal logging time undocumented.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0B1220"/>
                </a:solidFill>
                <a:latin typeface="Arial"/>
              </a:rPr>
              <a:t>•  Profile fusion: profile values are constant per person, so with 14 people they can act as an identity code; no benefit was shown on people held out entirely.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0B1220"/>
                </a:solidFill>
                <a:latin typeface="Arial"/>
              </a:rPr>
              <a:t>•  Prediction ranges under-cover; the warning score is uncalibrated and its threshold rule (F1) ignores review workload; 180 mg/dL is a research threshold, not triage.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0B1220"/>
                </a:solidFill>
                <a:latin typeface="Arial"/>
              </a:rPr>
              <a:t>•  Retrospective replay only: no clinician workflow, outcome or safety study. The foundation-model baseline was zero-shot only; fine-tuning was not run.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0B1220"/>
                </a:solidFill>
                <a:latin typeface="Arial"/>
              </a:rPr>
              <a:t>•  Scores depend on the dataset, prediction task and evaluation protocol; performance on simulated patients does not establish performance on real patients.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Next steps: evidence needed for Indian patients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Prospective, consented Indian cohort with unblinded CGMs, recorded transmission latency, medications and meal logging times.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Re-evaluate held-out participants (cold start) and per-site calibration; report subgroup performance.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AI-READI five-minute CGM and wearable data (access not yet requested; steps listed) for a larger new-person evaluation under the declared protocol gt-nested-2026-10-12-v2.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Clinician usability study of the review workflow; regulatory and data-protection review (DPDP Act).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Optional: fine-tune a time-series foundation model inside each training boundary and compare it under the same protocol (zero-shot only so far, D-054).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Team, links, reproducibility and licenses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Team Kryptonite — Avinash Gehi (team leader) · Hardik Hinduja. Vivekanand Education Society's Institute of Technology (VESIT), Mumbai.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Code: public GitHub link — added after the team publishes the repository — MIT license (code only). Quick start: make setup · make synthetic · make dev.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Demo video (at least 20 minutes): unlisted YouTube link — added after recording and upload. Architecture: docs/submission/GlucoTwin_Architecture.pdf.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Data: CGMacros 1.0.0, Gutierrez-Osuna, Kerr, Mortazavi, Das (2025), PhysioNet, doi:10.13026/3z8q-x658, CC BY-NC-SA 4.0; ShanghaiT2DM, Zhao, Zhu, Wang, Rao (2022), figshare, doi:10.6084/m9.figshare.21600933.v5, CC BY 4.0.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Serving results: experiment gt-primary-2026-10-13-fusion, reports/evaluation_report.md. Research (not served): README §7, docs/judge_guide.md, reports/constrained_study.md, reports/foundation_baseline.md, reports/two_hour_external.md. Every selected claim: reports/evidence_manifest.md.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