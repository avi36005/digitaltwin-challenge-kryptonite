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1600200"/>
            <a:ext cx="1097280" cy="0"/>
          </a:xfrm>
          <a:prstGeom prst="line">
            <a:avLst/>
          </a:prstGeom>
          <a:ln w="31750">
            <a:solidFill>
              <a:srgbClr val="0B1220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0B1220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B1220"/>
                </a:solidFill>
                <a:latin typeface="Arial"/>
              </a:rPr>
              <a:t>Team Kryptonite, VESIT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Avinash Gehi (team leader) · Hardik Hinduja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Vivekanand Education Society's Institute of Technology (VESIT), Mumbai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Hypothetical example (an illustration, not a deployment): a diabetes educator in Mumbai follows adults with Type 2 diabetes who wear CGMs between quarterly visits, and opens one person’s replay to see forecasts, warnings and the data behind them.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a review queue lists replays with unreviewed warnings first (an order of work, not triage) → each person reviewed in their own workspace.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 forecast at time t uses only records observed and available by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left out of the main model (logging time unknown); tested separately.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choices made on validation. The fusion re-run (gt-primary-2026-10-13-fusion) was declared after gt-primary-2026-10-11-v2's test had been inspected.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The patient correction learns only from forecasts whose outcome was already observed.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System architecture: two data streams, one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322576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80160"/>
            <a:ext cx="213969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DATA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188720"/>
            <a:ext cx="1737360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1280160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INGESTION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9744" y="1188720"/>
            <a:ext cx="7159752" cy="198333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128016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ONLINE · DIGITAL TWIN (LOCAL REPLAY)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9744" y="4532680"/>
            <a:ext cx="7159752" cy="177759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9472" y="462412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OFFLINE · MODEL BUILD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2168956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2578608" y="3523640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578608" y="4672584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78608" y="5718657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761488" y="2168956"/>
            <a:ext cx="0" cy="3549701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2761488" y="2671876"/>
            <a:ext cx="18288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3703320" y="3322929"/>
            <a:ext cx="0" cy="50292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4462272" y="4476902"/>
            <a:ext cx="246888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709160" y="2084832"/>
            <a:ext cx="0" cy="334396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09160" y="208483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>
            <a:off x="4709160" y="542879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6766560" y="208483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>
            <a:off x="9656064" y="208483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6766560" y="542879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>
            <a:off x="9656064" y="542879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V="1">
            <a:off x="834847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843076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registered model, SHA-256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0876788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10959084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evidence page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47395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prstDash val="dash"/>
          </a:ln>
        </p:spPr>
      </p:cxnSp>
      <p:sp>
        <p:nvSpPr>
          <p:cNvPr id="33" name="TextBox 32"/>
          <p:cNvSpPr txBox="1"/>
          <p:nvPr/>
        </p:nvSpPr>
        <p:spPr>
          <a:xfrm>
            <a:off x="655624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same feature + adaptation 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1517904"/>
            <a:ext cx="2103120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" y="162763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Static stream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1920240"/>
            <a:ext cx="1883663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 profile (EHR-like)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age, sex, BMI, HbA1c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fasting glucose, insulin,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triglycerides, HDL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2975457"/>
            <a:ext cx="2103120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3085185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Dynamic stream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3377793"/>
            <a:ext cx="1883663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Dexcom G6 CGM, native 5-min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Fitbit heart rate, METs,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activity minutes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5488" y="4227271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16" y="4336999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Synthetic patients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" y="4629607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fictional profiles (CC0)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gaps, late meals, short history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273344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538307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External cohort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5675680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ShanghaiT2DM, 98 people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15-min CGM, research only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44368" y="2020824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54096" y="2130552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Dataset adapter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54096" y="2423160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SHA-256 verified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native readings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observed_at stamp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available_at stamp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44368" y="3825849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54096" y="3935577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Canonical 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4228185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Parquet per patient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SQLite index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quality flag per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reading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56048" y="1517904"/>
            <a:ext cx="1810512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162763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Replay session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5776" y="1920240"/>
            <a:ext cx="1591056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backend-owned clock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releases a reading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once available_at ≤ 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seek / reset → new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revision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40880" y="1517904"/>
            <a:ext cx="2615184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162763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Twin engine (serving model)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608" y="1920240"/>
            <a:ext cx="2395728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  causal features, ≤ 180 min history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2  fusion LightGBM: 8 profile + 38 dynamic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3  bounded patient update (±25 mg/dL)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4  80 % range · warning &gt; 180 mg/dL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 abstain / degraded / stale guards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8672" y="1517904"/>
            <a:ext cx="1856231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162763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Clinician dashboard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1920240"/>
            <a:ext cx="1636775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FastAPI /api/v1 → React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warnings with outcomes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clinician review + note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review ledger (SQLite)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evidence · data quality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56048" y="4861864"/>
            <a:ext cx="1810512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65776" y="497159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Origin table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65776" y="5264200"/>
            <a:ext cx="1591056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causal features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targets +30 / +60 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split 60/10/10/20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purged boundaries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40880" y="4861864"/>
            <a:ext cx="261518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50608" y="497159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Frozen experiment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8" y="5264200"/>
            <a:ext cx="239572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baselines: persistence, trend, Ridge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LightGBM · CatBoost search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validation-only selection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one final-test run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8672" y="4861864"/>
            <a:ext cx="1856231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0" y="497159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Evidence + registry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5264200"/>
            <a:ext cx="1636775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metrics.json, report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card, disclosures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checksummed artifacts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rollback to previous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956048" y="3304184"/>
            <a:ext cx="1444752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3F465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65776" y="3413912"/>
            <a:ext cx="122529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Candidates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65776" y="3706520"/>
            <a:ext cx="1225296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research only, offline;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served only if every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 gate passes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6438290"/>
            <a:ext cx="11521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F4652"/>
                </a:solidFill>
                <a:latin typeface="Arial"/>
              </a:rPr>
              <a:t>Solid arrow: data flow   ·   Dashed line: identical code offline and online   ·   Blue: serving model   ·   Dashed box: research only, not served   ·   CPU only, local, no cloud, no LLM   ·  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Fusion: 38 dynamic features (CGM, heart rate, activity) + 8 baseline profile values (age, sex, BMI, HbA1c, labs)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linear trend, ridge. Learners: LightGBM and CatBoost, same search budget.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correction: a bounded mean of this person's observed errors; model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80 % prediction ranges (split-conformal), calibrated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 score: highest forecast in the next 60 min minus 180 mg/dL — not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Rule: lowest mean per-participant validation MAE over both horizons; within 0.5 mg/dL → simpler model. Only dyn-prof-v2 (profile + wearable) was eligible, to meet the fusion requirement — a constraint added on 2026-10-13, after the test segment had been inspected. Selected: lightgbm:dyn-prof-v2 with patient correction. Without the constraint the rule picks lightgbm:dyn-v2 (gt-primary-2026-10-11-v2).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Safety guardrails built into the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Abstains instead of guessing: no forecast with under 60 min of history or no new reading; marked Stale after 15 min; weak inputs flagged Degraded, with the reason.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 input is used before it was available; the fusion model abstains when a health-record value is missing.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correction: only from observed outcomes, needs 6, capped at ±25 mg/dL, reset after a 3-hour gap.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stay Outcome pending until they can be judged, then match an onset or count as a false alarm.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80 % prediction ranges shown with measured coverage; not a medical device, no treatment advice.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Opened tests are locked; the app reproduced all 15,440 saved test forecasts within 0.05 mg/dL.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Results at a glance: three kinds of evidence, kept apart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4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846320"/>
                <a:gridCol w="1783080"/>
                <a:gridCol w="1783080"/>
              </a:tblGrid>
              <a:tr h="420624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Evaluated 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Model or procedure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MAE 30 / 60 min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Persistence 30 / 60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 gridSpan="4"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2563EB"/>
                          </a:solidFill>
                          <a:latin typeface="Arial"/>
                        </a:rPr>
                        <a:t>Serving model — later recordings of the same 14 CGMacros Type 2 people (a test over time, retrospective)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Final 20 % of each recording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Fusion LightGBM + bounded patient correction (serving)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12.96 / 20.26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0B1220"/>
                          </a:solidFill>
                          <a:latin typeface="Arial"/>
                        </a:rPr>
                        <a:t>14.84 / 23.23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 gridSpan="4"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2563EB"/>
                          </a:solidFill>
                          <a:latin typeface="Arial"/>
                        </a:rPr>
                        <a:t>Participant-held-out research — 14 CGMacros people, each held out once (internal validation)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Five participant folds (D-032)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CGM-only procedure (Ridge in 4 of 5 folds), not served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13.88 / 22.30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15.34 / 24.47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Same folds (D-053)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Peak-aware constrained fusion selection, not adopted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13.89 / 22.00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15.34 / 24.47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Same 14 people (D-054)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Zero-shot foundation model, CGM only, not served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14.55 / 22.92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15.34 / 24.47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 gridSpan="4"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2563EB"/>
                          </a:solidFill>
                          <a:latin typeface="Arial"/>
                        </a:rPr>
                        <a:t>External check — ShanghaiT2DM, 98 people, CGM only; D-045 was the cohort's second opening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98 people, 15-min CGM (D-045)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Separate 15-min LightGBM, CGM only, not served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10.90 / 19.31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0B1220"/>
                          </a:solidFill>
                          <a:latin typeface="Arial"/>
                        </a:rPr>
                        <a:t>12.14 / 20.44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568696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Mean absolute error in mg/dL (lower is better), averaged over participants. Each group is a different model and test — do not compare across groups. Serving ranges (target 80 %) covered 74.2 % / 74.0 %.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Arial"/>
              </a:rPr>
              <a:t>RESEARCH · 14 previously inspected people · internal comparison · CGM only · not served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a zero-shot foundation-model baseline (D-054)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amazon/chronos-bolt-tiny (8.7 M parameters, apache-2.0), zero-shot on CGM only. Not fine-tuned, not a fusion model, not served.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Vs carrying the last reading forward: -0.79 [-1.01, -0.59] mg/dL at 30 min, -1.54 [-1.81, -1.30] at 60 min — lower for 14 of 14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Vs our serving recipe refitted per held-out person: +0.42 [-0.70, +1.47] mg/dL at 60 min (22.92 vs 22.50) — not better; worse above 180 mg/dL.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14 previously inspected people: an internal comparison. Its pretraining data may include public CGM recordings.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glucose twin — replay API, immutable forecasts, warnings with outcomes — and a clinician workspace.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Found: the published 1-minute CGM values are interpolated; we use only native 5-minute readings.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Later recordings of the same 14 people: MAE 12.96 / 20.26 mg/dL vs persistence 14.84 / 23.23; better for 14/14 people at 30 min and 13/14 at 60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Warnings: 61/64 onsets detected, 1.49 false alarms per observed patient-day; 48.4 % of all onsets warned ≥ 30 min ahead.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results regenerate from versioned configs.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 participants from one US site; no Indian participants.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Blinded CGMs replayed with assumed zero latency; medication and meal timing unknown.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values are constant per person; no benefit shown for people held out entirely.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Ranges under-cover (74.2 % / 74.0 % vs 80 % target); the warning threshold ignores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Retrospective replay only — no clinical, workflow or safety study.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Next: a prospective, consented Indian cohort and a full-fusion evaluation on new people.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Vivekanand Education Society's Institute of Technology (VESIT), Mumbai.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public GitHub link — added after the team publishes the repository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video: unlisted YouTube link — added after recording and upload.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 (PhysioNet, doi:10.13026/3z8q-x658, CC BY-NC-SA 4.0); ShanghaiT2DM (figshare, doi:10.6084/m9.figshare.21600933.v5, CC BY 4.0).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Evidence: docs/judge_guide.md · reports/evidence_manifest.md · docs/submission/GlucoTwin_Research_Workbook.xlsx.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