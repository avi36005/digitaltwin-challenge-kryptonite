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1600200"/>
            <a:ext cx="1097280" cy="0"/>
          </a:xfrm>
          <a:prstGeom prst="line">
            <a:avLst/>
          </a:prstGeom>
          <a:ln w="31750">
            <a:solidFill>
              <a:srgbClr val="0B1220"/>
            </a:solidFill>
          </a:ln>
        </p:spPr>
      </p:cxnSp>
      <p:sp>
        <p:nvSpPr>
          <p:cNvPr id="3" name="TextBox 2"/>
          <p:cNvSpPr txBox="1"/>
          <p:nvPr/>
        </p:nvSpPr>
        <p:spPr>
          <a:xfrm>
            <a:off x="822960" y="18288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>
                <a:solidFill>
                  <a:srgbClr val="0B1220"/>
                </a:solidFill>
                <a:latin typeface="Arial"/>
              </a:rPr>
              <a:t>GlucoTwin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9260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0">
                <a:solidFill>
                  <a:srgbClr val="0B1220"/>
                </a:solidFill>
                <a:latin typeface="Arial"/>
              </a:rPr>
              <a:t>Personalized glucose forecasting between clinic visits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02336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B1220"/>
                </a:solidFill>
                <a:latin typeface="Arial"/>
              </a:rPr>
              <a:t>Team Kryptonite, VESIT</a:t>
            </a:r>
          </a:p>
          <a:p>
            <a:r>
              <a:rPr sz="1800">
                <a:solidFill>
                  <a:srgbClr val="0B1220"/>
                </a:solidFill>
                <a:latin typeface="Arial"/>
              </a:rPr>
              <a:t>Avinash Gehi (team leader) · Hardik Hinduja</a:t>
            </a:r>
          </a:p>
          <a:p>
            <a:r>
              <a:rPr sz="1800">
                <a:solidFill>
                  <a:srgbClr val="0B1220"/>
                </a:solidFill>
                <a:latin typeface="Arial"/>
              </a:rPr>
              <a:t>Vivekanand Education Society's Institute of Technology (VESIT), Mumbai</a:t>
            </a:r>
          </a:p>
          <a:p>
            <a:r>
              <a:rPr sz="1800">
                <a:solidFill>
                  <a:srgbClr val="0B1220"/>
                </a:solidFill>
                <a:latin typeface="Arial"/>
              </a:rPr>
              <a:t>Digital Twin Challenge 2026 · Happiest Health</a:t>
            </a:r>
          </a:p>
          <a:p>
            <a:r>
              <a:rPr sz="1800">
                <a:solidFill>
                  <a:srgbClr val="0B1220"/>
                </a:solidFill>
                <a:latin typeface="Arial"/>
              </a:rPr>
              <a:t>Student research prototype — not a medical device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The problem: what happens between appointments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HbA1c summarises ~3 months of glucose; it cannot show short high-glucose excursions (NIDDK).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WHO identifies continuity of care and diabetes monitoring as ongoing challenges in India.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Continuous glucose monitors produce ~288 readings a day — too many to review by hand.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Question for the clinician: “Which monitored patient’s glucose pattern merits review, and what observations support that?”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Our target: forecast glucose 30 and 60 minutes ahead and warn of a NEW sustained episode &gt; 180 mg/dL (≥ 15 min), for Type 2 diabetes.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Use case and boundaries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Hypothetical example (an illustration, not a deployment): a diabetes educator in Mumbai follows adults with Type 2 diabetes who wear CGMs between quarterly visits, and opens one person’s replay to see forecasts, warnings and the data behind them.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User: a clinician reviewing a small monitored cohort; secondary user: a reviewer inspecting evidence.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Workflow (proposed): baseline labs at a visit → CGM + wearable measurements → twin forecasts → a review queue lists replays with unreviewed warnings first (an order of work, not triage) → each person reviewed in their own workspace.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Shows: observed vs predicted glucose, uncertainty, data freshness, factual reasons, research warnings.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Never: insulin or medication advice, triage, live device claims, LLM-generated predictions.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Potential fit with diagnostics + outpatient services is a proposal — no partnership or pilot is claimed.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What makes it a twin (operational definition)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1064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Versioned patient state: baseline profile, episode state, adaptation state, issued forecasts.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Incoming observations released by a replay clock (only what was available at that time).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Population forecaster + patient-specific correction learned from that person’s matured forecast errors.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Measured updates over time — a statistical research twin, not a physiological simulator.</a:t>
            </a:r>
          </a:p>
        </p:txBody>
      </p:sp>
      <p:pic>
        <p:nvPicPr>
          <p:cNvPr id="6" name="Picture 5" descr="fig_twin_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226" y="3977639"/>
            <a:ext cx="10597242" cy="26974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Data and provenance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CGMacros 1.0.0 (PhysioNet, CC BY-NC-SA 4.0): 45 adults, ~10 days, Dexcom G6 Pro + Libre Pro (blinded), Fitbit, meals, screening labs.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Primary cohort: 14 participants in the dataset’s Type 2 group (HbA1c &gt; 6.4 %); 31 others replayable but excluded.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Finding: the published 1-minute CGM columns are linearly interpolated. We recover native 5-minute Dexcom readings (integer knots) and never count interpolated rows.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Undocumented columns reported, not interpreted; documented error codes excluded; dates shifted; timezone unknown → synthetic clock, no time-of-day features.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Synthetic fictional participants exercise edge cases (gaps, late meal logs, short history) with no download.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Information availability and leakage controls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1064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A forecast at time t uses only records observed and available by t.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Meals left out of the main model (logging time unknown); tested separately.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Protocol frozen before fitting; choices made on validation. The fusion re-run (gt-primary-2026-10-13-fusion) was declared after gt-primary-2026-10-11-v2's test had been inspected.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The patient correction learns only from forecasts whose outcome was already observed.</a:t>
            </a:r>
          </a:p>
        </p:txBody>
      </p:sp>
      <p:pic>
        <p:nvPicPr>
          <p:cNvPr id="6" name="Picture 5" descr="fig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977639"/>
            <a:ext cx="11064240" cy="203515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System architecture: two data streams, one twin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7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322576" cy="5121554"/>
          </a:xfrm>
          <a:prstGeom prst="rect">
            <a:avLst/>
          </a:prstGeom>
          <a:noFill/>
          <a:ln w="9525">
            <a:solidFill>
              <a:srgbClr val="C9CE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1280160"/>
            <a:ext cx="2139696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3F4652"/>
                </a:solidFill>
                <a:latin typeface="Arial"/>
              </a:rPr>
              <a:t>DATA SOURCES</a:t>
            </a:r>
          </a:p>
        </p:txBody>
      </p:sp>
      <p:sp>
        <p:nvSpPr>
          <p:cNvPr id="7" name="Rectangle 6"/>
          <p:cNvSpPr/>
          <p:nvPr/>
        </p:nvSpPr>
        <p:spPr>
          <a:xfrm>
            <a:off x="2834640" y="1188720"/>
            <a:ext cx="1737360" cy="5121554"/>
          </a:xfrm>
          <a:prstGeom prst="rect">
            <a:avLst/>
          </a:prstGeom>
          <a:noFill/>
          <a:ln w="9525">
            <a:solidFill>
              <a:srgbClr val="C9CE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44368" y="1280160"/>
            <a:ext cx="155448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3F4652"/>
                </a:solidFill>
                <a:latin typeface="Arial"/>
              </a:rPr>
              <a:t>INGESTION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4809744" y="1188720"/>
            <a:ext cx="7159752" cy="1983333"/>
          </a:xfrm>
          <a:prstGeom prst="rect">
            <a:avLst/>
          </a:prstGeom>
          <a:noFill/>
          <a:ln w="9525">
            <a:solidFill>
              <a:srgbClr val="C9CE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19472" y="1280160"/>
            <a:ext cx="6976872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3F4652"/>
                </a:solidFill>
                <a:latin typeface="Arial"/>
              </a:rPr>
              <a:t>ONLINE · DIGITAL TWIN (LOCAL REPLAY)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809744" y="4532680"/>
            <a:ext cx="7159752" cy="1777593"/>
          </a:xfrm>
          <a:prstGeom prst="rect">
            <a:avLst/>
          </a:prstGeom>
          <a:noFill/>
          <a:ln w="9525">
            <a:solidFill>
              <a:srgbClr val="C9CE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19472" y="4624120"/>
            <a:ext cx="6976872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3F4652"/>
                </a:solidFill>
                <a:latin typeface="Arial"/>
              </a:rPr>
              <a:t>OFFLINE · MODEL BUILD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78608" y="2168956"/>
            <a:ext cx="182880" cy="0"/>
          </a:xfrm>
          <a:prstGeom prst="line">
            <a:avLst/>
          </a:prstGeom>
          <a:ln w="12700">
            <a:solidFill>
              <a:srgbClr val="0B1220"/>
            </a:solidFill>
          </a:ln>
        </p:spPr>
      </p:cxnSp>
      <p:cxnSp>
        <p:nvCxnSpPr>
          <p:cNvPr id="14" name="Connector 13"/>
          <p:cNvCxnSpPr/>
          <p:nvPr/>
        </p:nvCxnSpPr>
        <p:spPr>
          <a:xfrm>
            <a:off x="2578608" y="3523640"/>
            <a:ext cx="182880" cy="0"/>
          </a:xfrm>
          <a:prstGeom prst="line">
            <a:avLst/>
          </a:prstGeom>
          <a:ln w="12700">
            <a:solidFill>
              <a:srgbClr val="0B1220"/>
            </a:solidFill>
          </a:ln>
        </p:spPr>
      </p:cxnSp>
      <p:cxnSp>
        <p:nvCxnSpPr>
          <p:cNvPr id="15" name="Connector 14"/>
          <p:cNvCxnSpPr/>
          <p:nvPr/>
        </p:nvCxnSpPr>
        <p:spPr>
          <a:xfrm>
            <a:off x="2578608" y="4672584"/>
            <a:ext cx="182880" cy="0"/>
          </a:xfrm>
          <a:prstGeom prst="line">
            <a:avLst/>
          </a:prstGeom>
          <a:ln w="12700">
            <a:solidFill>
              <a:srgbClr val="0B1220"/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2578608" y="5718657"/>
            <a:ext cx="182880" cy="0"/>
          </a:xfrm>
          <a:prstGeom prst="line">
            <a:avLst/>
          </a:prstGeom>
          <a:ln w="12700">
            <a:solidFill>
              <a:srgbClr val="0B1220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2761488" y="2168956"/>
            <a:ext cx="0" cy="3549701"/>
          </a:xfrm>
          <a:prstGeom prst="line">
            <a:avLst/>
          </a:prstGeom>
          <a:ln w="12700">
            <a:solidFill>
              <a:srgbClr val="0B1220"/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2761488" y="2671876"/>
            <a:ext cx="182880" cy="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19" name="Connector 18"/>
          <p:cNvCxnSpPr/>
          <p:nvPr/>
        </p:nvCxnSpPr>
        <p:spPr>
          <a:xfrm>
            <a:off x="3703320" y="3322929"/>
            <a:ext cx="0" cy="50292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20" name="Connector 19"/>
          <p:cNvCxnSpPr/>
          <p:nvPr/>
        </p:nvCxnSpPr>
        <p:spPr>
          <a:xfrm>
            <a:off x="4462272" y="4476902"/>
            <a:ext cx="246888" cy="0"/>
          </a:xfrm>
          <a:prstGeom prst="line">
            <a:avLst/>
          </a:prstGeom>
          <a:ln w="12700">
            <a:solidFill>
              <a:srgbClr val="0B1220"/>
            </a:solidFill>
          </a:ln>
        </p:spPr>
      </p:cxnSp>
      <p:cxnSp>
        <p:nvCxnSpPr>
          <p:cNvPr id="21" name="Connector 20"/>
          <p:cNvCxnSpPr/>
          <p:nvPr/>
        </p:nvCxnSpPr>
        <p:spPr>
          <a:xfrm>
            <a:off x="4709160" y="2084832"/>
            <a:ext cx="0" cy="3343960"/>
          </a:xfrm>
          <a:prstGeom prst="line">
            <a:avLst/>
          </a:prstGeom>
          <a:ln w="12700">
            <a:solidFill>
              <a:srgbClr val="0B1220"/>
            </a:solidFill>
          </a:ln>
        </p:spPr>
      </p:cxnSp>
      <p:cxnSp>
        <p:nvCxnSpPr>
          <p:cNvPr id="22" name="Connector 21"/>
          <p:cNvCxnSpPr/>
          <p:nvPr/>
        </p:nvCxnSpPr>
        <p:spPr>
          <a:xfrm>
            <a:off x="4709160" y="2084832"/>
            <a:ext cx="246888" cy="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23" name="Connector 22"/>
          <p:cNvCxnSpPr/>
          <p:nvPr/>
        </p:nvCxnSpPr>
        <p:spPr>
          <a:xfrm>
            <a:off x="4709160" y="5428792"/>
            <a:ext cx="246888" cy="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24" name="Connector 23"/>
          <p:cNvCxnSpPr/>
          <p:nvPr/>
        </p:nvCxnSpPr>
        <p:spPr>
          <a:xfrm>
            <a:off x="6766560" y="2084832"/>
            <a:ext cx="274320" cy="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25" name="Connector 24"/>
          <p:cNvCxnSpPr/>
          <p:nvPr/>
        </p:nvCxnSpPr>
        <p:spPr>
          <a:xfrm>
            <a:off x="9656064" y="2084832"/>
            <a:ext cx="292608" cy="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26" name="Connector 25"/>
          <p:cNvCxnSpPr/>
          <p:nvPr/>
        </p:nvCxnSpPr>
        <p:spPr>
          <a:xfrm>
            <a:off x="6766560" y="5428792"/>
            <a:ext cx="274320" cy="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27" name="Connector 26"/>
          <p:cNvCxnSpPr/>
          <p:nvPr/>
        </p:nvCxnSpPr>
        <p:spPr>
          <a:xfrm>
            <a:off x="9656064" y="5428792"/>
            <a:ext cx="292608" cy="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28" name="Connector 27"/>
          <p:cNvCxnSpPr/>
          <p:nvPr/>
        </p:nvCxnSpPr>
        <p:spPr>
          <a:xfrm flipV="1">
            <a:off x="8348472" y="3025749"/>
            <a:ext cx="0" cy="1836115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sp>
        <p:nvSpPr>
          <p:cNvPr id="29" name="TextBox 28"/>
          <p:cNvSpPr txBox="1"/>
          <p:nvPr/>
        </p:nvSpPr>
        <p:spPr>
          <a:xfrm>
            <a:off x="8430768" y="3779215"/>
            <a:ext cx="27432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3F4652"/>
                </a:solidFill>
                <a:latin typeface="Arial"/>
              </a:rPr>
              <a:t>registered model, SHA-256</a:t>
            </a:r>
          </a:p>
        </p:txBody>
      </p:sp>
      <p:cxnSp>
        <p:nvCxnSpPr>
          <p:cNvPr id="30" name="Connector 29"/>
          <p:cNvCxnSpPr/>
          <p:nvPr/>
        </p:nvCxnSpPr>
        <p:spPr>
          <a:xfrm flipV="1">
            <a:off x="10876788" y="3025749"/>
            <a:ext cx="0" cy="1836115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sp>
        <p:nvSpPr>
          <p:cNvPr id="31" name="TextBox 30"/>
          <p:cNvSpPr txBox="1"/>
          <p:nvPr/>
        </p:nvSpPr>
        <p:spPr>
          <a:xfrm>
            <a:off x="10959084" y="3779215"/>
            <a:ext cx="27432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3F4652"/>
                </a:solidFill>
                <a:latin typeface="Arial"/>
              </a:rPr>
              <a:t>evidence page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6473952" y="3025749"/>
            <a:ext cx="0" cy="1836115"/>
          </a:xfrm>
          <a:prstGeom prst="line">
            <a:avLst/>
          </a:prstGeom>
          <a:ln w="12700">
            <a:solidFill>
              <a:srgbClr val="0B1220"/>
            </a:solidFill>
            <a:prstDash val="dash"/>
          </a:ln>
        </p:spPr>
      </p:cxnSp>
      <p:sp>
        <p:nvSpPr>
          <p:cNvPr id="33" name="TextBox 32"/>
          <p:cNvSpPr txBox="1"/>
          <p:nvPr/>
        </p:nvSpPr>
        <p:spPr>
          <a:xfrm>
            <a:off x="6556248" y="3779215"/>
            <a:ext cx="27432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3F4652"/>
                </a:solidFill>
                <a:latin typeface="Arial"/>
              </a:rPr>
              <a:t>same feature + adaptation code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75488" y="1517904"/>
            <a:ext cx="2103120" cy="130210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85216" y="1627632"/>
            <a:ext cx="1883663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Static stream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5216" y="1920240"/>
            <a:ext cx="1883663" cy="822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baseline profile (EHR-like)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age, sex, BMI, HbA1c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fasting glucose, insulin,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triglycerides, HDL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75488" y="2975457"/>
            <a:ext cx="2103120" cy="109636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216" y="3085185"/>
            <a:ext cx="1883663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Dynamic stream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16" y="3377793"/>
            <a:ext cx="1883663" cy="6172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Dexcom G6 CGM, native 5-min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Fitbit heart rate, METs,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activity minutes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75488" y="4227271"/>
            <a:ext cx="2103120" cy="89062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85216" y="4336999"/>
            <a:ext cx="1883663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Synthetic patients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5216" y="4629607"/>
            <a:ext cx="1883663" cy="411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5 fictional profiles (CC0)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gaps, late meals, short history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75488" y="5273344"/>
            <a:ext cx="2103120" cy="89062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85216" y="5383072"/>
            <a:ext cx="1883663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External cohort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85216" y="5675680"/>
            <a:ext cx="1883663" cy="411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ShanghaiT2DM, 98 people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15-min CGM, research only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944368" y="2020824"/>
            <a:ext cx="1517904" cy="130210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054096" y="2130552"/>
            <a:ext cx="1298448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Dataset adapter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054096" y="2423160"/>
            <a:ext cx="1298448" cy="822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SHA-256 verified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native readings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observed_at stamp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available_at stamp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944368" y="3825849"/>
            <a:ext cx="1517904" cy="130210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054096" y="3935577"/>
            <a:ext cx="1298448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Canonical store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054096" y="4228185"/>
            <a:ext cx="1298448" cy="822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Parquet per patient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SQLite index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quality flag per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reading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956048" y="1517904"/>
            <a:ext cx="1810512" cy="150784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065776" y="1627632"/>
            <a:ext cx="1591056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Replay session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065776" y="1920240"/>
            <a:ext cx="1591056" cy="10287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backend-owned clock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releases a reading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once available_at ≤ t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seek / reset → new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revision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040880" y="1517904"/>
            <a:ext cx="2615184" cy="150784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2225">
            <a:solidFill>
              <a:srgbClr val="2563E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150608" y="1627632"/>
            <a:ext cx="2395728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Twin engine (serving model)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150608" y="1920240"/>
            <a:ext cx="2395728" cy="10287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1  causal features, ≤ 180 min history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2  fusion LightGBM: 8 profile + 38 dynamic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3  bounded patient update (±25 mg/dL)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4  80 % range · warning &gt; 180 mg/dL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5  abstain / degraded / stale guards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948672" y="1517904"/>
            <a:ext cx="1856231" cy="150784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058400" y="1627632"/>
            <a:ext cx="1636775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Clinician dashboard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058400" y="1920240"/>
            <a:ext cx="1636775" cy="10287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FastAPI /api/v1 → React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warnings with outcomes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clinician review + note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review ledger (SQLite)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evidence · data quality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956048" y="4861864"/>
            <a:ext cx="1810512" cy="130210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065776" y="4971592"/>
            <a:ext cx="1591056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Origin table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065776" y="5264200"/>
            <a:ext cx="1591056" cy="822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causal features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targets +30 / +60 min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split 60/10/10/20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purged boundaries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7040880" y="4861864"/>
            <a:ext cx="2615184" cy="130210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150608" y="4971592"/>
            <a:ext cx="2395728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Frozen experiment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150608" y="5264200"/>
            <a:ext cx="2395728" cy="822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baselines: persistence, trend, Ridge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LightGBM · CatBoost search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validation-only selection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one final-test run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948672" y="4861864"/>
            <a:ext cx="1856231" cy="130210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0058400" y="4971592"/>
            <a:ext cx="1636775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Evidence + registry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058400" y="5264200"/>
            <a:ext cx="1636775" cy="822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metrics.json, report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model card, disclosures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checksummed artifacts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rollback to previous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4956048" y="3304184"/>
            <a:ext cx="1444752" cy="109636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3F4652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065776" y="3413912"/>
            <a:ext cx="1225296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Candidates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065776" y="3706520"/>
            <a:ext cx="1225296" cy="6172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research only, offline;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served only if every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release gate passes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65760" y="6438290"/>
            <a:ext cx="1152144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3F4652"/>
                </a:solidFill>
                <a:latin typeface="Arial"/>
              </a:rPr>
              <a:t>Solid arrow: data flow   ·   Dashed line: identical code offline and online   ·   Blue: serving model   ·   Dashed box: research only, not served   ·   CPU only, local, no cloud, no LLM   ·   not a medical device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Models and personalization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Fusion: 38 dynamic features (CGM, heart rate, activity) + 8 baseline profile values (age, sex, BMI, HbA1c, labs) in one model.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Baselines: persistence, linear trend, ridge. Learners: LightGBM and CatBoost, same search budget.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Patient correction: a bounded mean of this person's observed errors; model weights never refit.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80 % prediction ranges (split-conformal), calibrated for the exact serving pipeline.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Warning score: highest forecast in the next 60 min minus 180 mg/dL — not a probability.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Why this learner: validation-only selection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9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234440"/>
          <a:ext cx="7498079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/>
                <a:gridCol w="1874519"/>
                <a:gridCol w="1874519"/>
                <a:gridCol w="1874522"/>
              </a:tblGrid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Candidate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Val. MAE 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Val. MAE 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Score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lightgbm:dyn-prof-v2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13.47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21.26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17.36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catboost:dyn-prof-v2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13.56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21.31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17.44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lightgbm:dyn-v2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13.76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21.73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17.75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catboost:dyn-v2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13.88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21.66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17.77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ridge:dyn-v2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14.13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22.44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18.28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ridge:dyn-prof-v2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14.21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22.61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18.41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linear_trend:cgm-only-v1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15.66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26.33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20.99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persistence:cgm-only-v1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16.51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26.32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21.42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321040" y="1234440"/>
            <a:ext cx="3474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0B1220"/>
                </a:solidFill>
                <a:latin typeface="Arial"/>
              </a:rPr>
              <a:t>Rule: lowest mean per-participant validation MAE over both horizons; within 0.5 mg/dL → simpler model. Only dyn-prof-v2 (profile + wearable) was eligible, to meet the fusion requirement — a constraint added on 2026-10-13, after the test segment had been inspected. Selected: lightgbm:dyn-prof-v2 with patient correction. Without the constraint the rule picks lightgbm:dyn-v2 (gt-primary-2026-10-11-v2).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Safety guardrails built into the twin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Abstains instead of guessing: no forecast with under 60 min of history or no new reading; marked Stale after 15 min; weak inputs flagged Degraded, with the reason.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No input is used before it was available; the fusion model abstains when a health-record value is missing.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Patient correction: only from observed outcomes, needs 6, capped at ±25 mg/dL, reset after a 3-hour gap.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Warnings stay Outcome pending until they can be judged, then match an onset or count as a false alarm.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80 % prediction ranges shown with measured coverage; not a medical device, no treatment advice.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Opened tests are locked; the app reproduced all 15,440 saved test forecasts within 0.05 mg/dL.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Results at a glance: three kinds of evidence, kept apart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234440"/>
          <a:ext cx="11064240" cy="37856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4846320"/>
                <a:gridCol w="1783080"/>
                <a:gridCol w="1783080"/>
              </a:tblGrid>
              <a:tr h="420624">
                <a:tc>
                  <a:txBody>
                    <a:bodyPr/>
                    <a:lstStyle/>
                    <a:p>
                      <a:r>
                        <a:rPr sz="1350" b="1" i="0">
                          <a:solidFill>
                            <a:srgbClr val="0B1220"/>
                          </a:solidFill>
                          <a:latin typeface="Arial"/>
                        </a:rPr>
                        <a:t>Evaluated on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 i="0">
                          <a:solidFill>
                            <a:srgbClr val="0B1220"/>
                          </a:solidFill>
                          <a:latin typeface="Arial"/>
                        </a:rPr>
                        <a:t>Model or procedure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 i="0">
                          <a:solidFill>
                            <a:srgbClr val="0B1220"/>
                          </a:solidFill>
                          <a:latin typeface="Arial"/>
                        </a:rPr>
                        <a:t>MAE 30 / 60 min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 i="0">
                          <a:solidFill>
                            <a:srgbClr val="0B1220"/>
                          </a:solidFill>
                          <a:latin typeface="Arial"/>
                        </a:rPr>
                        <a:t>Persistence 30 / 60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420624">
                <a:tc gridSpan="4">
                  <a:txBody>
                    <a:bodyPr/>
                    <a:lstStyle/>
                    <a:p>
                      <a:r>
                        <a:rPr sz="1350" b="1" i="0">
                          <a:solidFill>
                            <a:srgbClr val="2563EB"/>
                          </a:solidFill>
                          <a:latin typeface="Arial"/>
                        </a:rPr>
                        <a:t>Serving model — later recordings of the same 14 CGMacros Type 2 people (a test over time, retrospective)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 marT="38100" marB="38100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 marT="38100" marB="38100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350" b="0" i="0">
                          <a:solidFill>
                            <a:srgbClr val="0B1220"/>
                          </a:solidFill>
                          <a:latin typeface="Arial"/>
                        </a:rPr>
                        <a:t>Final 20 % of each recording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 i="0">
                          <a:solidFill>
                            <a:srgbClr val="0B1220"/>
                          </a:solidFill>
                          <a:latin typeface="Arial"/>
                        </a:rPr>
                        <a:t>Fusion LightGBM + bounded patient correction (serving)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 i="0">
                          <a:solidFill>
                            <a:srgbClr val="0B1220"/>
                          </a:solidFill>
                          <a:latin typeface="Arial"/>
                        </a:rPr>
                        <a:t>12.96 / 20.26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 i="0">
                          <a:solidFill>
                            <a:srgbClr val="0B1220"/>
                          </a:solidFill>
                          <a:latin typeface="Arial"/>
                        </a:rPr>
                        <a:t>14.84 / 23.23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420624">
                <a:tc gridSpan="4">
                  <a:txBody>
                    <a:bodyPr/>
                    <a:lstStyle/>
                    <a:p>
                      <a:r>
                        <a:rPr sz="1350" b="1" i="0">
                          <a:solidFill>
                            <a:srgbClr val="2563EB"/>
                          </a:solidFill>
                          <a:latin typeface="Arial"/>
                        </a:rPr>
                        <a:t>Participant-held-out research — 14 CGMacros people, each held out once (internal validation)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 marT="38100" marB="38100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 marT="38100" marB="38100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350" b="0" i="0">
                          <a:solidFill>
                            <a:srgbClr val="0B1220"/>
                          </a:solidFill>
                          <a:latin typeface="Arial"/>
                        </a:rPr>
                        <a:t>Five participant folds (D-032)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 i="0">
                          <a:solidFill>
                            <a:srgbClr val="0B1220"/>
                          </a:solidFill>
                          <a:latin typeface="Arial"/>
                        </a:rPr>
                        <a:t>CGM-only procedure (Ridge in 4 of 5 folds), not served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 i="0">
                          <a:solidFill>
                            <a:srgbClr val="0B1220"/>
                          </a:solidFill>
                          <a:latin typeface="Arial"/>
                        </a:rPr>
                        <a:t>13.88 / 22.30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 i="0">
                          <a:solidFill>
                            <a:srgbClr val="0B1220"/>
                          </a:solidFill>
                          <a:latin typeface="Arial"/>
                        </a:rPr>
                        <a:t>15.34 / 24.47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350" b="0" i="0">
                          <a:solidFill>
                            <a:srgbClr val="0B1220"/>
                          </a:solidFill>
                          <a:latin typeface="Arial"/>
                        </a:rPr>
                        <a:t>Same folds (D-053)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 i="0">
                          <a:solidFill>
                            <a:srgbClr val="0B1220"/>
                          </a:solidFill>
                          <a:latin typeface="Arial"/>
                        </a:rPr>
                        <a:t>Peak-aware constrained fusion selection, not adopted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 i="0">
                          <a:solidFill>
                            <a:srgbClr val="0B1220"/>
                          </a:solidFill>
                          <a:latin typeface="Arial"/>
                        </a:rPr>
                        <a:t>13.89 / 22.00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 i="0">
                          <a:solidFill>
                            <a:srgbClr val="0B1220"/>
                          </a:solidFill>
                          <a:latin typeface="Arial"/>
                        </a:rPr>
                        <a:t>15.34 / 24.47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350" b="0" i="0">
                          <a:solidFill>
                            <a:srgbClr val="0B1220"/>
                          </a:solidFill>
                          <a:latin typeface="Arial"/>
                        </a:rPr>
                        <a:t>Same 14 people (D-054)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 i="0">
                          <a:solidFill>
                            <a:srgbClr val="0B1220"/>
                          </a:solidFill>
                          <a:latin typeface="Arial"/>
                        </a:rPr>
                        <a:t>Zero-shot foundation model, CGM only, not served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 i="0">
                          <a:solidFill>
                            <a:srgbClr val="0B1220"/>
                          </a:solidFill>
                          <a:latin typeface="Arial"/>
                        </a:rPr>
                        <a:t>14.55 / 22.92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 i="0">
                          <a:solidFill>
                            <a:srgbClr val="0B1220"/>
                          </a:solidFill>
                          <a:latin typeface="Arial"/>
                        </a:rPr>
                        <a:t>15.34 / 24.47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420624">
                <a:tc gridSpan="4">
                  <a:txBody>
                    <a:bodyPr/>
                    <a:lstStyle/>
                    <a:p>
                      <a:r>
                        <a:rPr sz="1350" b="1" i="0">
                          <a:solidFill>
                            <a:srgbClr val="2563EB"/>
                          </a:solidFill>
                          <a:latin typeface="Arial"/>
                        </a:rPr>
                        <a:t>External check — ShanghaiT2DM, 98 people, CGM only; D-045 was the cohort's second opening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 marT="38100" marB="38100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 marT="38100" marB="38100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350" b="0" i="0">
                          <a:solidFill>
                            <a:srgbClr val="0B1220"/>
                          </a:solidFill>
                          <a:latin typeface="Arial"/>
                        </a:rPr>
                        <a:t>98 people, 15-min CGM (D-045)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 i="0">
                          <a:solidFill>
                            <a:srgbClr val="0B1220"/>
                          </a:solidFill>
                          <a:latin typeface="Arial"/>
                        </a:rPr>
                        <a:t>Separate 15-min LightGBM, CGM only, not served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 i="0">
                          <a:solidFill>
                            <a:srgbClr val="0B1220"/>
                          </a:solidFill>
                          <a:latin typeface="Arial"/>
                        </a:rPr>
                        <a:t>10.90 / 19.31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 i="0">
                          <a:solidFill>
                            <a:srgbClr val="0B1220"/>
                          </a:solidFill>
                          <a:latin typeface="Arial"/>
                        </a:rPr>
                        <a:t>12.14 / 20.44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568696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0B1220"/>
                </a:solidFill>
                <a:latin typeface="Arial"/>
              </a:rPr>
              <a:t>Mean absolute error in mg/dL (lower is better), averaged over participants. Each group is a different model and test — do not compare across groups. Serving ranges (target 80 %) covered 74.2 % / 74.0 %.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28016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563EB"/>
                </a:solidFill>
                <a:latin typeface="Arial"/>
              </a:rPr>
              <a:t>RESEARCH · 14 previously inspected people · internal comparison · CGM only · not served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Research: a zero-shot foundation-model baseline (D-054)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amazon/chronos-bolt-tiny (8.7 M parameters, apache-2.0), zero-shot on CGM only. Not fine-tuned, not a fusion model, not served.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Vs carrying the last reading forward: -0.79 [-1.01, -0.59] mg/dL at 30 min, -1.54 [-1.81, -1.30] at 60 min — lower for 14 of 14 people.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Vs our serving recipe refitted per held-out person: +0.42 [-0.70, +1.47] mg/dL at 60 min (22.92 vs 22.50) — not better; worse above 180 mg/dL.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Same 14 previously inspected people: an internal comparison. Its pretraining data may include public CGM recordings.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Project outcomes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Built: a working glucose twin — replay API, immutable forecasts, warnings with outcomes — and a clinician workspace.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Found: the published 1-minute CGM values are interpolated; we use only native 5-minute readings.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Later recordings of the same 14 people: MAE 12.96 / 20.26 mg/dL vs persistence 14.84 / 23.23; better for 14/14 people at 30 min and 13/14 at 60 min.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Warnings: 61/64 onsets detected, 1.49 false alarms per observed patient-day; 48.4 % of all onsets warned ≥ 30 min ahead.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Reproducible: synthetic mode needs no download; results regenerate from versioned configs.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Limitations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14 participants from one US site; no Indian participants.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Blinded CGMs replayed with assumed zero latency; medication and meal timing unknown.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Profile values are constant per person; no benefit shown for people held out entirely.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Ranges under-cover (74.2 % / 74.0 % vs 80 % target); the warning threshold ignores review workload.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Retrospective replay only — no clinical, workflow or safety study.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Next: a prospective, consented Indian cohort and a full-fusion evaluation on new people.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Team, links, reproducibility and licenses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Team Kryptonite — Avinash Gehi (team leader) · Hardik Hinduja. Vivekanand Education Society's Institute of Technology (VESIT), Mumbai.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Code: public GitHub link — added after the team publishes the repository — MIT license (code only). Quick start: make setup · make synthetic · make dev.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Demo video: unlisted YouTube link — added after recording and upload.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Data: CGMacros 1.0.0 (PhysioNet, doi:10.13026/3z8q-x658, CC BY-NC-SA 4.0); ShanghaiT2DM (figshare, doi:10.6084/m9.figshare.21600933.v5, CC BY 4.0).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Evidence: docs/judge_guide.md · reports/evidence_manifest.md · docs/submission/GlucoTwin_Research_Workbook.xlsx.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Research workbook (every claim → its source): https://docs.google.com/spreadsheets/d/1u06FJSwKpWywDKrE9fGa2ZzivmY3eSLE/edit?usp=sharing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