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1600200"/>
            <a:ext cx="1097280" cy="0"/>
          </a:xfrm>
          <a:prstGeom prst="line">
            <a:avLst/>
          </a:prstGeom>
          <a:ln w="31750">
            <a:solidFill>
              <a:srgbClr val="0B1220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0B1220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B1220"/>
                </a:solidFill>
                <a:latin typeface="Arial"/>
              </a:rPr>
              <a:t>Team Kryptonite · VESIT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Avinash Gehi (team leader) · Hardik Hinduja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Vivekanand Education Society's Institute of Technology (VESIT), Mumbai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Hypothetical example (an illustration, not a deployment): a diabetes educator in Mumbai follows adults with Type 2 diabetes who wear CGMs between quarterly visits, and opens one person’s replay to see forecasts, warnings and the data behind them.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warnings reviewed one person at a time (no multi-patient queue yet).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Every record carries observed_at and available_at; a forecast at t uses only records with both ≤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excluded from the primary model (logging time unknown); tested separately as an optimistic sensitivity.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model, adaptation, intervals and alert threshold chosen on validation. Results shown (gt-primary-2026-10-13-fusion) re-run gt-primary-2026-10-11-v2's protocol with one change, declared after its test segment had been inspected: the serving model must read the baseline profile and the wearable streams.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Adaptation uses a residual only after its target reading was available; missing future data is censored, never negative.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System architecture: two data streams, one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322576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80160"/>
            <a:ext cx="213969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DATA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188720"/>
            <a:ext cx="1737360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280160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INGESTION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9744" y="1188720"/>
            <a:ext cx="7159752" cy="198333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128016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ONLINE · DIGITAL TWIN (LOCAL REPLAY)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9744" y="4532680"/>
            <a:ext cx="7159752" cy="177759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462412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OFFLINE · MODEL BUILD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168956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578608" y="3523640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578608" y="4672584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78608" y="5718657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61488" y="2168956"/>
            <a:ext cx="0" cy="3549701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2761488" y="2671876"/>
            <a:ext cx="18288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3703320" y="3322929"/>
            <a:ext cx="0" cy="50292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462272" y="4476902"/>
            <a:ext cx="246888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709160" y="2084832"/>
            <a:ext cx="0" cy="334396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09160" y="208483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4709160" y="542879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6766560" y="208483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>
            <a:off x="9656064" y="208483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6766560" y="542879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9656064" y="542879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834847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43076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registered model, SHA-256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0876788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10959084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evidence page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47395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prstDash val="dash"/>
          </a:ln>
        </p:spPr>
      </p:cxnSp>
      <p:sp>
        <p:nvSpPr>
          <p:cNvPr id="33" name="TextBox 32"/>
          <p:cNvSpPr txBox="1"/>
          <p:nvPr/>
        </p:nvSpPr>
        <p:spPr>
          <a:xfrm>
            <a:off x="655624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same feature + adaptation 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1517904"/>
            <a:ext cx="2103120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" y="162763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Static 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1920240"/>
            <a:ext cx="1883663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 profile (EHR-like)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age, sex, BMI, HbA1c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fasting glucose, insulin,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triglycerides, HDL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2975457"/>
            <a:ext cx="2103120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3085185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Dynamic 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3377793"/>
            <a:ext cx="1883663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Dexcom G6 CGM, native 5-min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Fitbit heart rate, METs,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activity minutes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5488" y="4227271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" y="4336999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Synthetic patients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" y="4629607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fictional profiles (CC0)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gaps, late meals, short history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273344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38307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External cohort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675680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ShanghaiT2DM, 98 people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15-min CGM, research only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44368" y="2020824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54096" y="2130552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Dataset adapter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54096" y="2423160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SHA-256 verified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native readings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observed_at stamp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available_at stamp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44368" y="3825849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54096" y="3935577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Canonical 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4228185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Parquet per patient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SQLite index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quality flag per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reading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56048" y="1517904"/>
            <a:ext cx="1810512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162763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Replay session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5776" y="1920240"/>
            <a:ext cx="1591056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backend-owned clock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releases a reading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once available_at ≤ 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seek / reset → new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revision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40880" y="1517904"/>
            <a:ext cx="2615184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162763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Twin engine (serving model)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1920240"/>
            <a:ext cx="2395728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  causal features, ≤ 180 min history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2  fusion LightGBM: 8 profile + 38 dynamic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3  patient adaptation (matured errors)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4  80 % prediction range (conformal)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 warning: new episode &gt; 180 mg/dL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8672" y="1517904"/>
            <a:ext cx="1856231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162763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Clinician dashboard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1920240"/>
            <a:ext cx="1636775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FastAPI /api/v1 → React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Overview · Participants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Replay with warnings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evidence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Data quality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56048" y="4861864"/>
            <a:ext cx="1810512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65776" y="497159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Origin table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65776" y="5264200"/>
            <a:ext cx="1591056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causal features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targets +30 / +60 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split 60/10/10/20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purged boundaries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40880" y="4861864"/>
            <a:ext cx="261518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50608" y="497159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Frozen experiment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8" y="5264200"/>
            <a:ext cx="239572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baselines: persistence, trend, Ridge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LightGBM · CatBoost search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validation-only selection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one final-test run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8672" y="4861864"/>
            <a:ext cx="1856231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0" y="497159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Evidence + registry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264200"/>
            <a:ext cx="1636775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metrics.json, report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card, disclosures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checksummed artifacts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rollback to previous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438290"/>
            <a:ext cx="11521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F4652"/>
                </a:solidFill>
                <a:latin typeface="Arial"/>
              </a:rPr>
              <a:t>Solid arrow: data flow   ·   Dashed: identical code offline and online   ·   Blue: serving model   ·   CPU only, runs locally, no cloud, no LLM   ·   research prototype,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the serving model reads 38 dynamic features (CGM history, wearable heart rate and activity) and 8 static baseline profile values (age, sex, BMI, HbA1c, fasting glucose and insulin, triglycerides, HDL)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bounded linear trend, ridge regression.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Direct per-horizon gradient-boosted trees: LightGBM (starting point) and CatBoost (challenger), equal 12-trial seeded searches, identical inputs and origins.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adaptation (same policy for both families): shrunk, bounded, decaying mean of matured residuals vs the frozen population forecast;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ranges: split-conformal, target coverage 80 %, calibrated on the calibration segment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Warning: max forecast within 60 min − 180 mg/dL — an uncalibrated score, never shown as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Declared rule: lowest mean per-participant MAE over both horizons; candidates within 0.5 mg/dL tie → simpler family, then smaller feature set. Eligible for serving: dyn-prof-v2 only (profile + wearable), a constraint added on 2026-10-13 after the test segment had been inspected, to meet the fusion requirement. Selected: lightgbm:dyn-prof-v2 with patient adaptation. Without the constraint the same rule picks lightgbm:dyn-v2 (the earlier model, 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Fusion: what the profile adds, and what it does not show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 asks for a model that ingests static EHR-like data and dynamic wearable data. The demo model (LightGBM, dyn-prof-v2) reads 8 baseline profile values and 38 glucose and wearable features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people, later days (test): profile minus dynamic-only -0.25 mg/dL [-0.43, -0.04] at 30 min and -0.61 mg/dL [-1.15, -0.09] at 60 min (negative = profile better). Profile values are constant per person, so here they can act as an identity code.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People held out entirely (nested experiment): +0.34 [-0.28, +0.89] mg/dL at 30 min and -0.75 [-2.19, +0.61] mg/dL at 60 min — no reliable benefit for new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Selection: the v2 rule applied only to profile + wearable models — a constraint declared on 2026-10-13, after the test segment had been inspected. Test MAE 12.96 / 20.26 mg/dL vs 13.15 / 20.81 for the dynamic-only model (gt-primary-2026-10-11-v2): retrospective, same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margin re-derived by the same F1 rule (-10 vs -30 mg/dL): 1.49 vs 2.95 false alarms per observed day, 61/64 vs 64/64 onsets, forecast lead median 30 vs 55 min. A threshold trade-off, not evidence that the profile helps.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claim: we selected a model that implements the required fusion; we have not established that profile features improve forecasting for unseen patients.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Clinician workflow: the twin workspace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03-forecast-with-interval-recor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Recorded-data replay in the final test period (later recordings of participants the model was trained on): current glucose, 30/60-minute forecasts with prediction ranges (target coverage 80 %), saved earlier forecasts, research warnings with outcomes, review status and the live safety guardrails.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Demonstration: evidence behind a forecast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04-forecast-evidence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Each forecast is immutable and inspectable: information cutoff, model version, evaluation segment, population forecast vs patient correction, factual explanations.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Safety guardrails built into the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Abstains instead of guessing: no forecast with under 60 min of history, a sparse last hour or no new reading; after 15 min without one the last forecast is marked Stale. Weak inputs (gaps, sensor-limit readings, missing wearable data) are flagged Degraded, with the reason.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fusion model abstains when a health-record value is missing or not yet available; no input is used before the time it became available (native CGM readings only).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 correction bounded: learns only from forecasts whose outcome was observed, needs 6, capped at ±25 mg/dL, resets after a 3-hour gap.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Every warning is a labelled research warning: Outcome pending until it can be judged, then matched to an onset, counted as a false alarm or marked unknown; firings within 30 min merge into one episode.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Uncertainty and limits shown: 80 % prediction ranges with measured coverage; not a medical device, no treatment advice, replay only.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Evaluation cannot be quietly re-run: opened tests are locked; research runs cannot change the demo model; the app reproduced all 15,440 saved test forecasts within 0.05 mg/dL.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forecast accuracy (later days)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fig_ma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96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Later recordings of the same 14 participants the model was trained on — not new patients. Serving − persistence: -1.88 mg/dL [-2.53, -1.32] at 30 min, -2.96 mg/dL [-4.34, -1.77] at 60 min. Test origins 7,730 (≈ 644 h); forecasts issued for 99.9 % of origins with a target.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does personalization help?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fig_paired_dif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017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Adaptation (LightGBM): -0.18 mg/dL [-0.35, -0.01] at 30 min, -0.33 mg/dL [-0.68, 0.02] at 60 min — small; population 13.14 / 20.59, frozen state 13.19 / 20.65, adaptive 12.96 / 20.26 mg/dL. New-participant cold start: 14.66/24.26 → 13.81/22.12 mg/dL with adaptation.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every participant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fig_per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17" y="1188720"/>
            <a:ext cx="1033806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Per-participant test MAE, persistence vs the serving pipeline. Gains are uneven: large for some participants, none for a few at 60 minutes. Fourteen people cannot establish population-level performance.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early warning and uncertainty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60-min warning (test, margin threshold -10 mg/dL chosen on validation by F1): 61/64 new onsets detected, precision 0.60, 40 false alarms (1.49 per observed patient-day; 2.28 per eligible day); forecast lead median 30 min (episode start 30 min).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procedure on persistence (fires at glucose ≥ 150): 63/64 detected, 70 false alarms (2.61 per observed patient-day; 4.00 per eligible day).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(target coverage 80 %) covered 74.2 % (30 min) and 74.0 % (60 min) on test, 60–82 % and 51–88 % per participant — under-covered; no guarantee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Optimistic meal logging: 19.07 vs 20.59 mg/dL at 60 min — timely meal data would likely help most.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new people and an independent cohort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Models kept separate: the v2 recipe (LightGBM, dynamic streams only; the demo model when this experiment was declared), a Ridge five-minute candidate on CGM-only features, and a separate 15-minute LightGBM as the external check.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145 participants imported; 14 evaluated internally (five participant folds, each person held out once) and 98 evaluated externally (ShanghaiT2DM, China, opened once).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Held-out people, 30 / 60 min: candidate 13.88 / 22.30 vs v2 recipe refit 14.52 / 24.25 vs persistence 15.34 / 24.47 mg/dL — but worse on large highs (+2.71 [+0.28, +5.11] mg/dL at 60 min when the target exceeded 180).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chosen for ≤ 2 false alarms per day: 301/329 onsets at 1.31 false alarms per observed day (v2 recipe: 329/329 at 2.80).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External 15-minute LightGBM vs persistence: -0.99 [-1.21, -0.77] mg/dL at 30 min (clear); -0.34 [-0.76, +0.10] mg/dL at 60 min (inconclusive).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promoted, and not eligible as the demo model: the Ridge candidate reads CGM only. CGMacros was already inspected, so its folds are internal validation; the next protocol also bounds high-glucose error, missed onsets and false warnings (declared, not run).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warning two hours ahead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brief's example is a spike predicted 2 hours ahead. Declared before any fit (decision D-043): the people-held-out procedure above, same folds, plus a 120-minute horizon. 14 people, each held out once; not the demo model, nothing promoted.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Forecast error at 120 min: 30.6 mg/dL vs persistence 35.9 (-5.25 [-6.44, -4.05] mg/dL); at 60 min 22.3 vs 24.5.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120-min warning: 315/329 onsets warned, 1.62 false alarms per observed day, median forecast lead 15 min. For comparison, 60-min warning: 313/329 onsets warned, 1.48 false alarms per observed day, median forecast lead 10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(EHR-like) inputs at 120 min, LightGBM with minus without: -0.86 [-2.60, +1.02] mg/dL (no reliable benefit on people held out).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Thresholds chosen on development folds only (≤ 2 false alarms per observed day); each test fold opened once. The 14 people were inspected in earlier experiments, so this is internal validation.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Independent cohort (98 ShanghaiT2DM people, CGM-only 15-minute model, assessed once; D-045): 29.6 vs persistence 31.7 mg/dL at 120 min (-2.12 [-2.67, -1.53]), better for 78 of 98 people.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personalized glucose twin — replay API with a backend-owned clock, immutable forecasts, research warnings with outcomes — and a clinician workspace (landing page, Overview, Participants, Replay sessions, Model evidence, Data quality).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 and corrected a data-provenance problem: the published 1-minute CGM values are interpolated; only native 5-minute readings are used.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Measured on later recordings of the same participants (retrospective): 14/14 participants improved over persistence at 30 min and 13/14 at 60 min; MAE 12.96 / 20.26 mg/dL vs 14.84 / 23.23.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Personalization: small gains (-0.18 mg/dL and -0.33 mg/dL). Warnings: 61/64 onsets detected with 40 false alarms (1.49 per observed patient-day) — the F1 threshold rule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Corrected after an independent review (activity-window defect, online warning double-credit; gt-primary-2026-10-11-v1 preserved), then re-run with the fusion constraint (gt-primary-2026-10-13-fusion); the dynamic-only model of gt-primary-2026-10-11-v2 stays registered for rollback.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recorded-data results regenerate from versioned configs; a fresh copy passes the automated backend, frontend and browser tests.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 participants from one US site; overlapping windows are not independent patients.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 Indian participants — nothing here establishes performance for patients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Blinded research CGMs replayed with assumed zero latency; native timestamps known to the minute.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Medication and insulin use unknown; meal logging time undocumented.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fusion: profile values are constant per person, so with 14 people they can act as an identity code; no benefit was shown on people held out entirely.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under-cover; the warning score is uncalibrated and its threshold rule (F1) ignores review workload; 180 mg/dL is a research threshold, not triage.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Retrospective replay only: no clinician workflow, outcome or safety study. Optional Chronos-Bolt not run.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Scores depend on the dataset, prediction task and evaluation protocol; performance on simulated patients does not establish performance on real patients.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Next steps: evidence needed for Indian patients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Prospective, consented Indian cohort with unblinded CGMs, recorded transmission latency, medications and meal logging times.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Re-evaluate held-out participants (cold start) and per-site calibration; report subgroup performance.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AI-READI five-minute CGM and wearable data (access not yet requested; steps listed) for a larger new-person evaluation under the declared protocol gt-nested-2026-10-12-v2.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Clinician usability study of the review workflow; regulatory and data-protection review (DPDP Act).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Optional: compare a fine-tuned time-series foundation model (e.g. Chronos-Bolt) under the same protocol.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Vivekanand Education Society's Institute of Technology (VESIT), Mumbai.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 (at least 20 minutes): unlisted YouTube link — added after recording and upload. Architecture: docs/submission/GlucoTwin_Architecture.pdf.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1.0.0, Gutierrez-Osuna, Kerr, Mortazavi, Das (2025), PhysioNet, doi:10.13026/3z8q-x658, CC BY-NC-SA 4.0; ShanghaiT2DM, Zhao, Zhu, Wang, Rao (2022), figshare, doi:10.6084/m9.figshare.21600933.v5, CC BY 4.0.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All results: experiment gt-primary-2026-10-13-fusion, artifacts/experiments/…/metrics.json; reports/evaluation_report.md.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